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80" r:id="rId7"/>
    <p:sldId id="262" r:id="rId8"/>
    <p:sldId id="263" r:id="rId9"/>
    <p:sldId id="264" r:id="rId10"/>
    <p:sldId id="278" r:id="rId11"/>
    <p:sldId id="266" r:id="rId12"/>
    <p:sldId id="267" r:id="rId13"/>
    <p:sldId id="268" r:id="rId14"/>
    <p:sldId id="270" r:id="rId15"/>
    <p:sldId id="269" r:id="rId16"/>
    <p:sldId id="271" r:id="rId17"/>
    <p:sldId id="273" r:id="rId18"/>
    <p:sldId id="281" r:id="rId19"/>
    <p:sldId id="275" r:id="rId20"/>
    <p:sldId id="276" r:id="rId21"/>
    <p:sldId id="277"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269662-02CB-45A4-AD5F-5950606A1FE2}">
  <a:tblStyle styleId="{26269662-02CB-45A4-AD5F-5950606A1FE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7T04:38:24.822"/>
    </inkml:context>
    <inkml:brush xml:id="br0">
      <inkml:brushProperty name="width" value="0.35" units="cm"/>
      <inkml:brushProperty name="height" value="0.35" units="cm"/>
      <inkml:brushProperty name="color" value="#FFFFFF"/>
    </inkml:brush>
  </inkml:definitions>
  <inkml:trace contextRef="#ctx0" brushRef="#br0">1 408 24575,'140'-12'0,"-60"4"0,-3 0 0,70-3 0,-137 12 0,19-1 0,-29 0 0,1 1 0,0-1 0,-1 0 0,1-1 0,-1 1 0,1 0 0,-1 0 0,1 0 0,-1 0 0,1 0 0,0 0 0,-1-1 0,1 1 0,-1 0 0,1 0 0,-1-1 0,1 1 0,-1 0 0,0-1 0,1 1 0,-1-1 0,1 1 0,-1 0 0,0-1 0,1 1 0,-1-1 0,0 1 0,0-1 0,1 1 0,-1-1 0,0 1 0,0-1 0,0 1 0,1-1 0,-1 0 0,0 0 0,0 0 0,0-1 0,0 1 0,1 0 0,-1 0 0,0 0 0,1 0 0,-1 0 0,1 0 0,-1 0 0,1 0 0,0 0 0,-1 0 0,1 1 0,0-1 0,-1 0 0,1 0 0,0 0 0,0 1 0,0-1 0,0 0 0,0 1 0,0-1 0,0 1 0,0-1 0,0 1 0,0 0 0,0-1 0,0 1 0,0 0 0,0 0 0,3 0 0,44-4 0,-36 4 0,728-2 0,-370 4 0,-217 18 0,-41-10 0,-73-5 0,43 0 0,848-6 0,-774-9 0,10 0 0,-57 12 0,165-4 0,-239-3 0,0-2 0,0-1 0,48-18 0,-71 22 0,2 1 0,0 0 0,1 0 0,17 0 0,27-5 0,27-5 0,0 3 0,1 3 0,138 9 0,-78 0 0,-99-4 0,-34 1 0,-1-1 0,1 2 0,-1 0 0,1 0 0,0 2 0,-1-1 0,1 2 0,-1 0 0,23 8 0,-39-9 0,1 1 0,-1-1 0,0 0 0,0 0 0,0 0 0,-1 0 0,1 0 0,-6 1 0,-24 8 0,-1-2 0,0-2 0,0-1 0,-49 2 0,35-6 0,-1-2 0,0-2 0,1-3 0,-81-17 0,9-9 0,114 30 0,0-1 0,1 0 0,-1 0 0,0-1 0,1 0 0,0 0 0,-1 0 0,-5-5 0,6 4 0,0 1 0,1 0 0,-2 0 0,1 0 0,0 0 0,0 1 0,-1 0 0,1 0 0,-12-2 0,-57-1 0,-77 5 0,-61-3 0,172 1 0,29 2 0,-1 0 0,0 0 0,1-2 0,-1 1 0,1-1 0,-1-1 0,-19-7 0,33 6 0,14 0 0,16 0 0,7 5 0,54 9 0,32 0 0,134-20 0,27 0 0,-284 10 0,-1 0 0,1 1 0,0-1 0,-1 0 0,1 0 0,0 0 0,-1 0 0,1 0 0,0-1 0,-1 1 0,1 0 0,0-1 0,-1 0 0,1 1 0,-1-1 0,1 0 0,-1 1 0,1-1 0,-1 0 0,0 0 0,1 0 0,-1-1 0,0 1 0,0 0 0,0 0 0,1-1 0,-1 1 0,-1 0 0,1-1 0,0 1 0,1-3 0,-2 0 0,0 1 0,0-1 0,-1 1 0,1-1 0,-1 1 0,1 0 0,-1-1 0,0 1 0,-1 0 0,1 0 0,0 0 0,-1 0 0,0 0 0,0 0 0,-2-3 0,1 2 0,-1-1 0,1 0 0,1 0 0,-1 0 0,1-1 0,0 1 0,0 0 0,0-1 0,-1-10 0,3 15 0,0 0 0,0-1 0,0 1 0,0 0 0,0-1 0,1 1 0,-1 0 0,0 0 0,1 0 0,-1-1 0,1 1 0,-1 0 0,1 0 0,0 0 0,-1 0 0,1 0 0,0 0 0,1-2 0,1 2 0,-1-1 0,0 1 0,0 0 0,0 0 0,1 0 0,-1 0 0,1 0 0,-1 1 0,0-1 0,1 1 0,-1-1 0,6 1 0,225 0 0,-94 3 0,1055-3-1365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7T04:38:33.064"/>
    </inkml:context>
    <inkml:brush xml:id="br0">
      <inkml:brushProperty name="width" value="0.35" units="cm"/>
      <inkml:brushProperty name="height" value="0.35" units="cm"/>
      <inkml:brushProperty name="color" value="#FFFFFF"/>
    </inkml:brush>
  </inkml:definitions>
  <inkml:trace contextRef="#ctx0" brushRef="#br0">352 156 24575,'-27'2'0,"0"1"0,0 0 0,-28 9 0,29-5 0,-1-2 0,0-1 0,-30 0 0,40-5 0,13 1 0,0-1 0,0 0 0,0 1 0,-1 0 0,1 0 0,0 0 0,0 1 0,0 0 0,0-1 0,0 1 0,0 1 0,0-1 0,-5 3 0,9-4 0,0 0 0,1 1 0,-1-1 0,0 1 0,0-1 0,0 0 0,1 1 0,-1-1 0,0 0 0,0 1 0,1-1 0,-1 0 0,0 1 0,1-1 0,-1 0 0,0 1 0,1-1 0,-1 0 0,1 0 0,-1 0 0,0 1 0,1-1 0,-1 0 0,1 0 0,-1 0 0,0 0 0,1 0 0,-1 0 0,1 0 0,-1 0 0,1 0 0,-1 0 0,1 0 0,-1 0 0,0 0 0,1 0 0,-1 0 0,1 0 0,0-1 0,22 2 0,102-24 0,37-4 0,-89 21 0,248-11 0,-144 14 0,147 6 0,-244 7 0,28 0 0,-97-9 0,1 0 0,-1 1 0,0 1 0,0-1 0,19 8 0,-19-5 0,0-2 0,1 1 0,-1-1 0,1-1 0,20 1 0,430-19 0,-286-4 0,-129 16 0,0 2 0,54 4 0,-46 1 0,58-6 0,-51-7 0,-40 6 0,-1 1 0,28 0 0,-28 1 0,-1 0 0,1-2 0,-1 0 0,0-1 0,21-8 0,-14 4 0,54-10 0,-10 10 0,96-1 0,326 11 0,-473 0 0,0 1 0,0 2 0,0 0 0,0 1 0,21 8 0,-20-6 0,0-1 0,0 0 0,44 4 0,-37-8 0,-1 2 0,49 13 0,-62-12 0,-1 1 0,0 0 0,0 1 0,14 11 0,3 1 0,-30-19 0,0 0 0,0 0 0,0 0 0,1 0 0,-1 0 0,0 0 0,0 0 0,1 0 0,-1 0 0,0 0 0,0 0 0,0 0 0,0 0 0,1 0 0,-1 0 0,0 0 0,0 1 0,0-1 0,0 0 0,1 0 0,-1 0 0,0 0 0,0 0 0,0 1 0,0-1 0,0 0 0,1 0 0,-1 0 0,0 0 0,0 1 0,0-1 0,0 0 0,0 0 0,0 0 0,0 1 0,0-1 0,0 0 0,0 0 0,0 0 0,0 1 0,0-1 0,0 0 0,0 0 0,0 0 0,0 1 0,0-1 0,0 0 0,0 0 0,0 0 0,-1 1 0,1-1 0,0 0 0,0 0 0,0 0 0,0 0 0,0 1 0,0-1 0,-1 0 0,-17 4 0,-29-3 0,45-1 0,-47-4 0,0-1 0,-73-19 0,28 4 0,39 10 0,0 3 0,-85-2 0,-309-7 0,425 14 0,16 3 0,-1-1 0,1-1 0,-1 0 0,1 0 0,0-1 0,0 0 0,-1 0 0,1-1 0,1 0 0,-14-6 0,12 4 0,-1 1 0,-1 1 0,1-1 0,0 2 0,-1 0 0,0 0 0,-17-1 0,-27-4 0,-136-27 0,70 16 0,96 13 0,-2 2 0,-27 1 0,58 6 0,-1 0 0,2 0 0,-1-1 0,0 1 0,1-1 0,9 6 0,44 14 0,1-1 0,1-4 0,102 19 0,-2 0 0,-118-25 0,0-2 0,0-1 0,1-3 0,0-1 0,54-1 0,-87-4 0,208-16 0,-132 12 0,-19 3 0,-65 1-52,-1 0-1,0 0 1,1 0-1,-1 0 1,1-1-1,-1 1 1,0 0-1,1-1 1,-1 1-1,0-1 1,1 1-1,-1-1 1,0 1-1,0-1 1,1 0-1,-1 0 1,0 0-1,0 0 1,0 0-1,0 0 1,0 0-1,0 0 1,-1 0-1,1 0 0,1-3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8ef7ed1b4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8ef7ed1b4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8ef7ed1b49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8ef7ed1b49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8ef7ed1b49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8ef7ed1b4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8ef7ed1b49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8ef7ed1b49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8ef7ed1b49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8ef7ed1b49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8ef7ed1b49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8ef7ed1b49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8ef7ed1b49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8ef7ed1b49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8ef7ed1b49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8ef7ed1b49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8ef7ed1b49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8ef7ed1b49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550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8ef7ed1b49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8ef7ed1b49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8ef7ed1b49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8ef7ed1b49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8ef7ed1b49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8ef7ed1b49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8ef7ed1b49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8ef7ed1b49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ef7ed1b49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8ef7ed1b49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8ef7ed1b49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8ef7ed1b4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8ef7ed1b49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8ef7ed1b49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8ef7ed1b49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8ef7ed1b49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122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8ef7ed1b49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8ef7ed1b49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8ef7ed1b49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8ef7ed1b49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8ef7ed1b49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8ef7ed1b4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ustomXml" Target="../ink/ink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0"/>
            <a:ext cx="9144000" cy="11883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latin typeface="Cambria"/>
                <a:ea typeface="Cambria"/>
                <a:cs typeface="Cambria"/>
                <a:sym typeface="Cambria"/>
              </a:rPr>
              <a:t>MAEER’s MIT Art, Design and Technology University, Pune</a:t>
            </a:r>
            <a:endParaRPr sz="16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MIT School of Computing</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Department of Computer Science and Engineering</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Computer Engineering Workshop 23CSE1107</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F.Y B.Tech [ASH] A.Y 2023-24 Sem-II</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CEW Project Presentation</a:t>
            </a:r>
            <a:endParaRPr sz="1100" b="1" dirty="0">
              <a:latin typeface="Cambria"/>
              <a:ea typeface="Cambria"/>
              <a:cs typeface="Cambria"/>
              <a:sym typeface="Cambria"/>
            </a:endParaRPr>
          </a:p>
        </p:txBody>
      </p:sp>
      <p:sp>
        <p:nvSpPr>
          <p:cNvPr id="55" name="Google Shape;55;p13"/>
          <p:cNvSpPr txBox="1">
            <a:spLocks noGrp="1"/>
          </p:cNvSpPr>
          <p:nvPr>
            <p:ph type="subTitle" idx="1"/>
          </p:nvPr>
        </p:nvSpPr>
        <p:spPr>
          <a:xfrm>
            <a:off x="0" y="1155000"/>
            <a:ext cx="9144000" cy="3922500"/>
          </a:xfrm>
          <a:prstGeom prst="rect">
            <a:avLst/>
          </a:prstGeom>
        </p:spPr>
        <p:txBody>
          <a:bodyPr spcFirstLastPara="1" wrap="square" lIns="91425" tIns="91425" rIns="91425" bIns="91425" anchor="ctr" anchorCtr="0">
            <a:normAutofit/>
          </a:bodyPr>
          <a:lstStyle/>
          <a:p>
            <a:pPr marL="0" lvl="0" indent="0" algn="ctr" rtl="0">
              <a:lnSpc>
                <a:spcPct val="115000"/>
              </a:lnSpc>
              <a:spcBef>
                <a:spcPts val="0"/>
              </a:spcBef>
              <a:spcAft>
                <a:spcPts val="0"/>
              </a:spcAft>
              <a:buClr>
                <a:schemeClr val="dk1"/>
              </a:buClr>
              <a:buSzPts val="1100"/>
              <a:buFont typeface="Arial"/>
              <a:buNone/>
            </a:pPr>
            <a:r>
              <a:rPr lang="en" sz="1400" dirty="0">
                <a:solidFill>
                  <a:schemeClr val="dk1"/>
                </a:solidFill>
              </a:rPr>
              <a:t>A presentation on</a:t>
            </a:r>
            <a:endParaRPr sz="1400" dirty="0">
              <a:solidFill>
                <a:schemeClr val="dk1"/>
              </a:solidFill>
            </a:endParaRPr>
          </a:p>
          <a:p>
            <a:pPr marL="0" lvl="0" indent="0" algn="ctr" rtl="0">
              <a:lnSpc>
                <a:spcPct val="115000"/>
              </a:lnSpc>
              <a:spcBef>
                <a:spcPts val="0"/>
              </a:spcBef>
              <a:spcAft>
                <a:spcPts val="0"/>
              </a:spcAft>
              <a:buClr>
                <a:schemeClr val="dk1"/>
              </a:buClr>
              <a:buSzPts val="1100"/>
              <a:buFont typeface="Arial"/>
              <a:buNone/>
            </a:pPr>
            <a:r>
              <a:rPr lang="en" sz="1400" dirty="0">
                <a:solidFill>
                  <a:schemeClr val="dk1"/>
                </a:solidFill>
              </a:rPr>
              <a:t>“</a:t>
            </a:r>
            <a:r>
              <a:rPr lang="en" sz="1400" b="1" dirty="0">
                <a:solidFill>
                  <a:schemeClr val="dk1"/>
                </a:solidFill>
                <a:latin typeface="Comic Sans MS"/>
                <a:ea typeface="Comic Sans MS"/>
                <a:cs typeface="Comic Sans MS"/>
                <a:sym typeface="Comic Sans MS"/>
              </a:rPr>
              <a:t>Micro Algae Based Air Purifier </a:t>
            </a:r>
            <a:r>
              <a:rPr lang="en" sz="1400" dirty="0">
                <a:solidFill>
                  <a:schemeClr val="dk1"/>
                </a:solidFill>
              </a:rPr>
              <a:t>”</a:t>
            </a:r>
            <a:endParaRPr sz="1400" dirty="0">
              <a:solidFill>
                <a:schemeClr val="dk1"/>
              </a:solidFill>
            </a:endParaRPr>
          </a:p>
          <a:p>
            <a:pPr marL="0" lvl="0" indent="0" algn="ctr" rtl="0">
              <a:lnSpc>
                <a:spcPct val="115000"/>
              </a:lnSpc>
              <a:spcBef>
                <a:spcPts val="0"/>
              </a:spcBef>
              <a:spcAft>
                <a:spcPts val="0"/>
              </a:spcAft>
              <a:buClr>
                <a:schemeClr val="dk1"/>
              </a:buClr>
              <a:buSzPts val="1100"/>
              <a:buFont typeface="Arial"/>
              <a:buNone/>
            </a:pPr>
            <a:r>
              <a:rPr lang="en" sz="1400" dirty="0">
                <a:solidFill>
                  <a:schemeClr val="dk1"/>
                </a:solidFill>
              </a:rPr>
              <a:t>by</a:t>
            </a:r>
            <a:endParaRPr sz="1400" dirty="0">
              <a:solidFill>
                <a:schemeClr val="dk1"/>
              </a:solidFill>
            </a:endParaRPr>
          </a:p>
          <a:p>
            <a:pPr marL="0" lvl="0" indent="0" rtl="0">
              <a:lnSpc>
                <a:spcPct val="115000"/>
              </a:lnSpc>
              <a:spcBef>
                <a:spcPts val="0"/>
              </a:spcBef>
              <a:spcAft>
                <a:spcPts val="0"/>
              </a:spcAft>
              <a:buClr>
                <a:schemeClr val="dk1"/>
              </a:buClr>
              <a:buSzPts val="1100"/>
              <a:buFont typeface="Arial"/>
              <a:buNone/>
            </a:pPr>
            <a:r>
              <a:rPr lang="en" sz="1400" dirty="0">
                <a:solidFill>
                  <a:schemeClr val="dk1"/>
                </a:solidFill>
              </a:rPr>
              <a:t>   Achyut Yesare [SOC16-02][ADT23SOCB0041]</a:t>
            </a:r>
            <a:endParaRPr sz="1400" dirty="0">
              <a:solidFill>
                <a:schemeClr val="dk1"/>
              </a:solidFill>
            </a:endParaRPr>
          </a:p>
          <a:p>
            <a:pPr marL="0" lvl="0" indent="0" rtl="0">
              <a:lnSpc>
                <a:spcPct val="115000"/>
              </a:lnSpc>
              <a:spcBef>
                <a:spcPts val="0"/>
              </a:spcBef>
              <a:spcAft>
                <a:spcPts val="0"/>
              </a:spcAft>
              <a:buClr>
                <a:schemeClr val="dk1"/>
              </a:buClr>
              <a:buSzPts val="1100"/>
              <a:buFont typeface="Arial"/>
              <a:buNone/>
            </a:pPr>
            <a:r>
              <a:rPr lang="en" sz="1400" dirty="0">
                <a:solidFill>
                  <a:schemeClr val="dk1"/>
                </a:solidFill>
              </a:rPr>
              <a:t>        Vedant Barhate [SOC16-55][ADT23SOCB1288]</a:t>
            </a:r>
            <a:endParaRPr sz="1400" dirty="0">
              <a:solidFill>
                <a:schemeClr val="dk1"/>
              </a:solidFill>
            </a:endParaRPr>
          </a:p>
          <a:p>
            <a:pPr marL="0" lvl="0" indent="0" rtl="0">
              <a:lnSpc>
                <a:spcPct val="115000"/>
              </a:lnSpc>
              <a:spcBef>
                <a:spcPts val="0"/>
              </a:spcBef>
              <a:spcAft>
                <a:spcPts val="0"/>
              </a:spcAft>
              <a:buClr>
                <a:schemeClr val="dk1"/>
              </a:buClr>
              <a:buSzPts val="1100"/>
              <a:buFont typeface="Arial"/>
              <a:buNone/>
            </a:pPr>
            <a:r>
              <a:rPr lang="en" sz="1400" dirty="0">
                <a:solidFill>
                  <a:schemeClr val="dk1"/>
                </a:solidFill>
              </a:rPr>
              <a:t>    Vibhor Dev [SOC16-56][ADT23SOCB1303]</a:t>
            </a:r>
          </a:p>
          <a:p>
            <a:pPr marL="0" indent="0">
              <a:lnSpc>
                <a:spcPct val="115000"/>
              </a:lnSpc>
              <a:buClr>
                <a:schemeClr val="dk1"/>
              </a:buClr>
              <a:buSzPts val="1100"/>
            </a:pPr>
            <a:r>
              <a:rPr lang="en-IN" sz="1400" dirty="0">
                <a:solidFill>
                  <a:schemeClr val="dk1"/>
                </a:solidFill>
              </a:rPr>
              <a:t>     Yash Pandey [SOC16-57][</a:t>
            </a:r>
            <a:r>
              <a:rPr lang="en" sz="1400" dirty="0">
                <a:solidFill>
                  <a:schemeClr val="dk1"/>
                </a:solidFill>
              </a:rPr>
              <a:t>ADT23SOCB1337</a:t>
            </a:r>
            <a:r>
              <a:rPr lang="en-IN" sz="1400" dirty="0">
                <a:solidFill>
                  <a:schemeClr val="dk1"/>
                </a:solidFill>
              </a:rPr>
              <a:t>]</a:t>
            </a:r>
          </a:p>
          <a:p>
            <a:pPr marL="0" lvl="0" indent="0" rtl="0">
              <a:lnSpc>
                <a:spcPct val="115000"/>
              </a:lnSpc>
              <a:spcBef>
                <a:spcPts val="0"/>
              </a:spcBef>
              <a:spcAft>
                <a:spcPts val="0"/>
              </a:spcAft>
              <a:buClr>
                <a:schemeClr val="dk1"/>
              </a:buClr>
              <a:buSzPts val="1100"/>
              <a:buFont typeface="Arial"/>
              <a:buNone/>
            </a:pPr>
            <a:r>
              <a:rPr lang="en" sz="1400" dirty="0">
                <a:solidFill>
                  <a:schemeClr val="dk1"/>
                </a:solidFill>
              </a:rPr>
              <a:t>     Shravan Mehta [SOC16-62][ADT23SOCB1560]</a:t>
            </a:r>
            <a:endParaRPr sz="1400" dirty="0">
              <a:solidFill>
                <a:schemeClr val="dk1"/>
              </a:solidFill>
            </a:endParaRPr>
          </a:p>
          <a:p>
            <a:pPr marL="0" lvl="0" indent="0" algn="ctr" rtl="0">
              <a:lnSpc>
                <a:spcPct val="115000"/>
              </a:lnSpc>
              <a:spcBef>
                <a:spcPts val="0"/>
              </a:spcBef>
              <a:spcAft>
                <a:spcPts val="0"/>
              </a:spcAft>
              <a:buClr>
                <a:schemeClr val="dk1"/>
              </a:buClr>
              <a:buSzPts val="1100"/>
              <a:buFont typeface="Arial"/>
              <a:buNone/>
            </a:pPr>
            <a:r>
              <a:rPr lang="en" sz="1400" dirty="0">
                <a:solidFill>
                  <a:schemeClr val="dk1"/>
                </a:solidFill>
              </a:rPr>
              <a:t>     of </a:t>
            </a:r>
            <a:r>
              <a:rPr lang="en" sz="1400" b="1" dirty="0">
                <a:solidFill>
                  <a:schemeClr val="dk1"/>
                </a:solidFill>
              </a:rPr>
              <a:t>F.Y. BTech [CSE]</a:t>
            </a:r>
            <a:endParaRPr sz="1400" b="1" dirty="0">
              <a:solidFill>
                <a:schemeClr val="dk1"/>
              </a:solidFill>
            </a:endParaRPr>
          </a:p>
          <a:p>
            <a:pPr marL="0" lvl="0" indent="0" algn="ctr" rtl="0">
              <a:lnSpc>
                <a:spcPct val="115000"/>
              </a:lnSpc>
              <a:spcBef>
                <a:spcPts val="0"/>
              </a:spcBef>
              <a:spcAft>
                <a:spcPts val="0"/>
              </a:spcAft>
              <a:buNone/>
            </a:pPr>
            <a:r>
              <a:rPr lang="en" sz="1400" dirty="0">
                <a:solidFill>
                  <a:schemeClr val="dk1"/>
                </a:solidFill>
              </a:rPr>
              <a:t>      Under the guidance of</a:t>
            </a:r>
            <a:endParaRPr sz="1400" dirty="0">
              <a:solidFill>
                <a:schemeClr val="dk1"/>
              </a:solidFill>
            </a:endParaRPr>
          </a:p>
          <a:p>
            <a:pPr marL="914400" lvl="0" indent="12700" algn="l" rtl="0">
              <a:lnSpc>
                <a:spcPct val="115000"/>
              </a:lnSpc>
              <a:spcBef>
                <a:spcPts val="0"/>
              </a:spcBef>
              <a:spcAft>
                <a:spcPts val="0"/>
              </a:spcAft>
              <a:buNone/>
            </a:pPr>
            <a:r>
              <a:rPr lang="en" sz="1400" dirty="0">
                <a:solidFill>
                  <a:schemeClr val="dk1"/>
                </a:solidFill>
              </a:rPr>
              <a:t>                                                       Prof. Pranav Chippalkatti</a:t>
            </a:r>
            <a:endParaRPr sz="1400" dirty="0">
              <a:solidFill>
                <a:schemeClr val="dk1"/>
              </a:solidFill>
            </a:endParaRPr>
          </a:p>
          <a:p>
            <a:pPr marL="2743200" lvl="0" indent="0" algn="l" rtl="0">
              <a:lnSpc>
                <a:spcPct val="115000"/>
              </a:lnSpc>
              <a:spcBef>
                <a:spcPts val="0"/>
              </a:spcBef>
              <a:spcAft>
                <a:spcPts val="0"/>
              </a:spcAft>
              <a:buClr>
                <a:schemeClr val="dk1"/>
              </a:buClr>
              <a:buSzPts val="1100"/>
              <a:buFont typeface="Arial"/>
              <a:buNone/>
            </a:pPr>
            <a:r>
              <a:rPr lang="en" sz="1400" dirty="0">
                <a:solidFill>
                  <a:schemeClr val="dk1"/>
                </a:solidFill>
              </a:rPr>
              <a:t>       [Assistant Prof(EEE-CSE) &amp; Incharge(CEW)]</a:t>
            </a:r>
            <a:endParaRPr sz="1400" dirty="0">
              <a:solidFill>
                <a:schemeClr val="dk1"/>
              </a:solidFill>
            </a:endParaRPr>
          </a:p>
          <a:p>
            <a:pPr marL="0" lvl="0" indent="0" algn="ctr" rtl="0">
              <a:spcBef>
                <a:spcPts val="0"/>
              </a:spcBef>
              <a:spcAft>
                <a:spcPts val="0"/>
              </a:spcAft>
              <a:buNone/>
            </a:pPr>
            <a:endParaRPr dirty="0"/>
          </a:p>
        </p:txBody>
      </p:sp>
      <p:pic>
        <p:nvPicPr>
          <p:cNvPr id="56" name="Google Shape;56;p13"/>
          <p:cNvPicPr preferRelativeResize="0"/>
          <p:nvPr/>
        </p:nvPicPr>
        <p:blipFill>
          <a:blip r:embed="rId3">
            <a:alphaModFix/>
          </a:blip>
          <a:stretch>
            <a:fillRect/>
          </a:stretch>
        </p:blipFill>
        <p:spPr>
          <a:xfrm>
            <a:off x="0" y="0"/>
            <a:ext cx="1155000" cy="115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dirty="0">
                <a:latin typeface="Cambria"/>
                <a:ea typeface="Cambria"/>
                <a:cs typeface="Cambria"/>
                <a:sym typeface="Cambria"/>
              </a:rPr>
              <a:t>MAEER’s MIT Art, Design and Technology University, Pune</a:t>
            </a:r>
            <a:endParaRPr sz="16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MIT School of Computing</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Department of Computer Science and Engineering</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Computer Engineering Workshop 23CSE1107</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F.Y B.Tech [ASH] A.Y 2023-24 Sem-II</a:t>
            </a:r>
            <a:endParaRPr sz="1100" b="1" dirty="0">
              <a:latin typeface="Cambria"/>
              <a:ea typeface="Cambria"/>
              <a:cs typeface="Cambria"/>
              <a:sym typeface="Cambria"/>
            </a:endParaRPr>
          </a:p>
          <a:p>
            <a:pPr marL="0" lvl="0" indent="0" algn="ctr" rtl="0">
              <a:spcBef>
                <a:spcPts val="0"/>
              </a:spcBef>
              <a:spcAft>
                <a:spcPts val="0"/>
              </a:spcAft>
              <a:buNone/>
            </a:pPr>
            <a:r>
              <a:rPr lang="en" sz="1100" b="1" dirty="0">
                <a:latin typeface="Cambria"/>
                <a:ea typeface="Cambria"/>
                <a:cs typeface="Cambria"/>
                <a:sym typeface="Cambria"/>
              </a:rPr>
              <a:t>CEW Project Presentation</a:t>
            </a:r>
            <a:endParaRPr sz="1100" b="1" dirty="0">
              <a:latin typeface="Cambria"/>
              <a:ea typeface="Cambria"/>
              <a:cs typeface="Cambria"/>
              <a:sym typeface="Cambria"/>
            </a:endParaRPr>
          </a:p>
        </p:txBody>
      </p:sp>
      <p:sp>
        <p:nvSpPr>
          <p:cNvPr id="62" name="Google Shape;62;p14"/>
          <p:cNvSpPr txBox="1">
            <a:spLocks noGrp="1"/>
          </p:cNvSpPr>
          <p:nvPr>
            <p:ph type="subTitle" idx="1"/>
          </p:nvPr>
        </p:nvSpPr>
        <p:spPr>
          <a:xfrm>
            <a:off x="0" y="1155000"/>
            <a:ext cx="9144000" cy="3922500"/>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Clr>
                <a:schemeClr val="dk1"/>
              </a:buClr>
              <a:buSzPts val="1100"/>
              <a:buFont typeface="Arial"/>
              <a:buNone/>
            </a:pPr>
            <a:r>
              <a:rPr lang="en" sz="2000" dirty="0">
                <a:solidFill>
                  <a:schemeClr val="dk1"/>
                </a:solidFill>
              </a:rPr>
              <a:t>Outline : </a:t>
            </a:r>
            <a:r>
              <a:rPr lang="en-IN" sz="1800" dirty="0">
                <a:solidFill>
                  <a:schemeClr val="dk1"/>
                </a:solidFill>
              </a:rPr>
              <a:t>“</a:t>
            </a:r>
            <a:r>
              <a:rPr lang="en-IN" sz="1800" b="1" dirty="0">
                <a:solidFill>
                  <a:schemeClr val="dk1"/>
                </a:solidFill>
                <a:latin typeface="Comic Sans MS"/>
                <a:ea typeface="Comic Sans MS"/>
                <a:cs typeface="Comic Sans MS"/>
                <a:sym typeface="Comic Sans MS"/>
              </a:rPr>
              <a:t>Micro Algae Based Air Purifier </a:t>
            </a:r>
            <a:r>
              <a:rPr lang="en-IN" sz="1800" dirty="0">
                <a:solidFill>
                  <a:schemeClr val="dk1"/>
                </a:solidFill>
              </a:rPr>
              <a:t>”</a:t>
            </a:r>
            <a:endParaRPr sz="1800" b="1" dirty="0">
              <a:solidFill>
                <a:schemeClr val="dk1"/>
              </a:solidFill>
              <a:latin typeface="Comic Sans MS"/>
              <a:ea typeface="Comic Sans MS"/>
              <a:cs typeface="Comic Sans MS"/>
              <a:sym typeface="Comic Sans MS"/>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❖Objective</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❖Introduction</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❖Problem Statement</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❖Empathy Chart</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❖Point of View Statement</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❖Ideation</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❖Block Diagram</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❖Flowchart</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❖Algorithm</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❖Results</a:t>
            </a:r>
            <a:endParaRPr sz="1700" dirty="0">
              <a:solidFill>
                <a:schemeClr val="dk1"/>
              </a:solidFill>
            </a:endParaRPr>
          </a:p>
          <a:p>
            <a:pPr marL="12700" lvl="0" indent="0" algn="l" rtl="0">
              <a:lnSpc>
                <a:spcPct val="115000"/>
              </a:lnSpc>
              <a:spcBef>
                <a:spcPts val="0"/>
              </a:spcBef>
              <a:spcAft>
                <a:spcPts val="0"/>
              </a:spcAft>
              <a:buClr>
                <a:schemeClr val="dk1"/>
              </a:buClr>
              <a:buSzPts val="1100"/>
              <a:buFont typeface="Arial"/>
              <a:buNone/>
            </a:pPr>
            <a:r>
              <a:rPr lang="en" sz="1700" dirty="0">
                <a:solidFill>
                  <a:schemeClr val="dk1"/>
                </a:solidFill>
              </a:rPr>
              <a:t>❖Conclusion</a:t>
            </a:r>
            <a:endParaRPr sz="1700" dirty="0">
              <a:solidFill>
                <a:schemeClr val="dk1"/>
              </a:solidFill>
            </a:endParaRPr>
          </a:p>
          <a:p>
            <a:pPr marL="0" lvl="0" indent="0" algn="l" rtl="0">
              <a:spcBef>
                <a:spcPts val="0"/>
              </a:spcBef>
              <a:spcAft>
                <a:spcPts val="0"/>
              </a:spcAft>
              <a:buNone/>
            </a:pPr>
            <a:endParaRPr sz="1400" dirty="0">
              <a:solidFill>
                <a:schemeClr val="dk1"/>
              </a:solidFill>
            </a:endParaRPr>
          </a:p>
        </p:txBody>
      </p:sp>
      <p:pic>
        <p:nvPicPr>
          <p:cNvPr id="63" name="Google Shape;63;p14"/>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3" name="Picture 2">
            <a:extLst>
              <a:ext uri="{FF2B5EF4-FFF2-40B4-BE49-F238E27FC236}">
                <a16:creationId xmlns:a16="http://schemas.microsoft.com/office/drawing/2014/main" id="{213F11E8-512F-FC8D-8450-554AB24AC261}"/>
              </a:ext>
            </a:extLst>
          </p:cNvPr>
          <p:cNvPicPr>
            <a:picLocks noChangeAspect="1"/>
          </p:cNvPicPr>
          <p:nvPr/>
        </p:nvPicPr>
        <p:blipFill>
          <a:blip r:embed="rId4"/>
          <a:stretch>
            <a:fillRect/>
          </a:stretch>
        </p:blipFill>
        <p:spPr>
          <a:xfrm>
            <a:off x="5325341" y="1711037"/>
            <a:ext cx="3132860" cy="31328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70" name="Google Shape;70;p15"/>
          <p:cNvSpPr txBox="1">
            <a:spLocks noGrp="1"/>
          </p:cNvSpPr>
          <p:nvPr>
            <p:ph type="subTitle" idx="1"/>
          </p:nvPr>
        </p:nvSpPr>
        <p:spPr>
          <a:xfrm>
            <a:off x="1" y="1155000"/>
            <a:ext cx="5361708" cy="3922500"/>
          </a:xfrm>
          <a:prstGeom prst="rect">
            <a:avLst/>
          </a:prstGeom>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700" dirty="0">
                <a:solidFill>
                  <a:schemeClr val="dk1"/>
                </a:solidFill>
              </a:rPr>
              <a:t>❖Objective</a:t>
            </a:r>
          </a:p>
          <a:p>
            <a:pPr marL="12700" lvl="0" indent="0" algn="l" rtl="0">
              <a:lnSpc>
                <a:spcPct val="115000"/>
              </a:lnSpc>
              <a:spcBef>
                <a:spcPts val="0"/>
              </a:spcBef>
              <a:spcAft>
                <a:spcPts val="0"/>
              </a:spcAft>
              <a:buNone/>
            </a:pPr>
            <a:endParaRPr lang="en-IN" sz="1700" dirty="0">
              <a:solidFill>
                <a:schemeClr val="dk1"/>
              </a:solidFill>
            </a:endParaRPr>
          </a:p>
          <a:p>
            <a:pPr marL="12700" lvl="0" indent="0" algn="l" rtl="0">
              <a:lnSpc>
                <a:spcPct val="115000"/>
              </a:lnSpc>
              <a:spcBef>
                <a:spcPts val="0"/>
              </a:spcBef>
              <a:spcAft>
                <a:spcPts val="0"/>
              </a:spcAft>
              <a:buNone/>
            </a:pPr>
            <a:endParaRPr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Our goal is to use tiny plants called microalgae to clean up the air for residential areas. We want to make a special system that's really good at getting rid of the bad stuff in the air, like pollution. We'll test how well it works and see if it's something that can be used everywhere in residential areas. </a:t>
            </a:r>
            <a:endParaRPr sz="1700" dirty="0">
              <a:solidFill>
                <a:schemeClr val="dk1"/>
              </a:solidFill>
            </a:endParaRPr>
          </a:p>
          <a:p>
            <a:pPr marL="0" lvl="0" indent="0" algn="l" rtl="0">
              <a:spcBef>
                <a:spcPts val="0"/>
              </a:spcBef>
              <a:spcAft>
                <a:spcPts val="0"/>
              </a:spcAft>
              <a:buNone/>
            </a:pPr>
            <a:endParaRPr sz="1400" dirty="0">
              <a:solidFill>
                <a:schemeClr val="dk1"/>
              </a:solidFill>
            </a:endParaRPr>
          </a:p>
        </p:txBody>
      </p:sp>
      <p:pic>
        <p:nvPicPr>
          <p:cNvPr id="71" name="Google Shape;71;p15"/>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5122" name="Picture 2" descr="micro algae in a contaier like air purifier">
            <a:extLst>
              <a:ext uri="{FF2B5EF4-FFF2-40B4-BE49-F238E27FC236}">
                <a16:creationId xmlns:a16="http://schemas.microsoft.com/office/drawing/2014/main" id="{446478F6-D19B-3E47-2B1E-2B8545819F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8019" y="1353260"/>
            <a:ext cx="3525980" cy="352598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77" name="Google Shape;77;p16"/>
          <p:cNvSpPr txBox="1">
            <a:spLocks noGrp="1"/>
          </p:cNvSpPr>
          <p:nvPr>
            <p:ph type="subTitle" idx="1"/>
          </p:nvPr>
        </p:nvSpPr>
        <p:spPr>
          <a:xfrm>
            <a:off x="0" y="1155000"/>
            <a:ext cx="5929745" cy="3922500"/>
          </a:xfrm>
          <a:prstGeom prst="rect">
            <a:avLst/>
          </a:prstGeom>
        </p:spPr>
        <p:txBody>
          <a:bodyPr spcFirstLastPara="1" wrap="square" lIns="91425" tIns="91425" rIns="91425" bIns="91425" anchor="t" anchorCtr="0">
            <a:normAutofit/>
          </a:bodyPr>
          <a:lstStyle/>
          <a:p>
            <a:pPr marL="12700" lvl="0" indent="0" algn="just" rtl="0">
              <a:lnSpc>
                <a:spcPct val="115000"/>
              </a:lnSpc>
              <a:spcBef>
                <a:spcPts val="0"/>
              </a:spcBef>
              <a:spcAft>
                <a:spcPts val="0"/>
              </a:spcAft>
              <a:buNone/>
            </a:pPr>
            <a:r>
              <a:rPr lang="en" sz="1700" dirty="0">
                <a:solidFill>
                  <a:schemeClr val="dk1"/>
                </a:solidFill>
              </a:rPr>
              <a:t>❖Introduction</a:t>
            </a:r>
            <a:endParaRPr sz="1700" dirty="0">
              <a:solidFill>
                <a:schemeClr val="dk1"/>
              </a:solidFill>
            </a:endParaRPr>
          </a:p>
          <a:p>
            <a:pPr marL="0" lvl="0" indent="0" algn="just" rtl="0">
              <a:spcBef>
                <a:spcPts val="0"/>
              </a:spcBef>
              <a:spcAft>
                <a:spcPts val="0"/>
              </a:spcAft>
              <a:buNone/>
            </a:pPr>
            <a:endParaRPr lang="en-US" sz="1400" dirty="0">
              <a:solidFill>
                <a:schemeClr val="dk1"/>
              </a:solidFill>
            </a:endParaRPr>
          </a:p>
          <a:p>
            <a:pPr marL="0" lvl="0" indent="0" algn="just" rtl="0">
              <a:spcBef>
                <a:spcPts val="0"/>
              </a:spcBef>
              <a:spcAft>
                <a:spcPts val="0"/>
              </a:spcAft>
              <a:buNone/>
            </a:pPr>
            <a:endParaRPr lang="en-US" sz="1400" dirty="0">
              <a:solidFill>
                <a:schemeClr val="dk1"/>
              </a:solidFill>
            </a:endParaRPr>
          </a:p>
          <a:p>
            <a:pPr marL="0" lvl="0" indent="0" algn="just" rtl="0">
              <a:spcBef>
                <a:spcPts val="0"/>
              </a:spcBef>
              <a:spcAft>
                <a:spcPts val="0"/>
              </a:spcAft>
              <a:buNone/>
            </a:pPr>
            <a:r>
              <a:rPr lang="en-US" sz="1700" dirty="0">
                <a:solidFill>
                  <a:schemeClr val="dk1"/>
                </a:solidFill>
              </a:rPr>
              <a:t>In our residential areas, the air we breathe isn't as clean as it should be. There's a lot of pollution from cars, factories, and other things. We need to find better ways to clean up this dirty air. That's where our project comes in. We're looking at using tiny plants called microalgae to help make the air cleaner.</a:t>
            </a:r>
          </a:p>
          <a:p>
            <a:pPr marL="0" lvl="0" indent="0" algn="just" rtl="0">
              <a:spcBef>
                <a:spcPts val="0"/>
              </a:spcBef>
              <a:spcAft>
                <a:spcPts val="0"/>
              </a:spcAft>
              <a:buNone/>
            </a:pPr>
            <a:r>
              <a:rPr lang="en-US" sz="1700" dirty="0">
                <a:solidFill>
                  <a:schemeClr val="dk1"/>
                </a:solidFill>
              </a:rPr>
              <a:t> These microalgae are like superheroes that can absorb the bad stuff in the air and give out fresh, clean air in return. Our goal is to create a special system that uses these microalgae to clean up the air in our residential areas.</a:t>
            </a:r>
          </a:p>
        </p:txBody>
      </p:sp>
      <p:pic>
        <p:nvPicPr>
          <p:cNvPr id="78" name="Google Shape;78;p16"/>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6146" name="Picture 2" descr="micro algae in a contaier like air purifier">
            <a:extLst>
              <a:ext uri="{FF2B5EF4-FFF2-40B4-BE49-F238E27FC236}">
                <a16:creationId xmlns:a16="http://schemas.microsoft.com/office/drawing/2014/main" id="{2AB380AF-8274-311B-36C2-20DAC68DEC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0497" y="1808018"/>
            <a:ext cx="2786495" cy="27864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84" name="Google Shape;84;p17"/>
          <p:cNvSpPr txBox="1">
            <a:spLocks noGrp="1"/>
          </p:cNvSpPr>
          <p:nvPr>
            <p:ph type="subTitle" idx="1"/>
          </p:nvPr>
        </p:nvSpPr>
        <p:spPr>
          <a:xfrm>
            <a:off x="0" y="1155000"/>
            <a:ext cx="8922327" cy="39225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US" sz="1500" dirty="0">
                <a:solidFill>
                  <a:schemeClr val="dk1"/>
                </a:solidFill>
              </a:rPr>
              <a:t>❖</a:t>
            </a:r>
            <a:r>
              <a:rPr lang="en-US" sz="1600" dirty="0">
                <a:solidFill>
                  <a:schemeClr val="dk1"/>
                </a:solidFill>
              </a:rPr>
              <a:t>Problem Statement</a:t>
            </a:r>
          </a:p>
          <a:p>
            <a:pPr marL="0" lvl="0" indent="0" algn="just" rtl="0">
              <a:spcBef>
                <a:spcPts val="0"/>
              </a:spcBef>
              <a:spcAft>
                <a:spcPts val="0"/>
              </a:spcAft>
              <a:buNone/>
            </a:pPr>
            <a:endParaRPr lang="en-US" sz="1500" dirty="0">
              <a:solidFill>
                <a:schemeClr val="dk1"/>
              </a:solidFill>
            </a:endParaRPr>
          </a:p>
          <a:p>
            <a:pPr marL="0" lvl="0" indent="0" algn="just" rtl="0">
              <a:spcBef>
                <a:spcPts val="0"/>
              </a:spcBef>
              <a:spcAft>
                <a:spcPts val="0"/>
              </a:spcAft>
              <a:buNone/>
            </a:pPr>
            <a:r>
              <a:rPr lang="en-US" sz="1500" dirty="0">
                <a:solidFill>
                  <a:schemeClr val="dk1"/>
                </a:solidFill>
              </a:rPr>
              <a:t>Air pollution is a significant challenge in residential areas, characterized by high levels of pollutants such as particulate matter, nitrogen oxides, and volatile organic compounds.</a:t>
            </a:r>
          </a:p>
          <a:p>
            <a:pPr marL="0" lvl="0" indent="0" algn="just" rtl="0">
              <a:spcBef>
                <a:spcPts val="0"/>
              </a:spcBef>
              <a:spcAft>
                <a:spcPts val="0"/>
              </a:spcAft>
              <a:buNone/>
            </a:pPr>
            <a:endParaRPr lang="en-US" sz="1500" dirty="0">
              <a:solidFill>
                <a:schemeClr val="dk1"/>
              </a:solidFill>
            </a:endParaRPr>
          </a:p>
          <a:p>
            <a:pPr marL="0" lvl="0" indent="0" algn="just" rtl="0">
              <a:spcBef>
                <a:spcPts val="0"/>
              </a:spcBef>
              <a:spcAft>
                <a:spcPts val="0"/>
              </a:spcAft>
            </a:pPr>
            <a:r>
              <a:rPr lang="en-US" sz="1500" dirty="0">
                <a:solidFill>
                  <a:schemeClr val="dk1"/>
                </a:solidFill>
              </a:rPr>
              <a:t> Who needs cleaner air and healthier environments?</a:t>
            </a:r>
          </a:p>
          <a:p>
            <a:pPr marL="0" lvl="0" indent="0" algn="just" rtl="0">
              <a:spcBef>
                <a:spcPts val="0"/>
              </a:spcBef>
              <a:spcAft>
                <a:spcPts val="0"/>
              </a:spcAft>
              <a:buNone/>
            </a:pPr>
            <a:r>
              <a:rPr lang="en-US" sz="1500" dirty="0">
                <a:solidFill>
                  <a:schemeClr val="dk1"/>
                </a:solidFill>
              </a:rPr>
              <a:t>Residents of Indian cities, including families, children, and the elderly, require cleaner air and healthier environments to live and thrive.</a:t>
            </a:r>
          </a:p>
          <a:p>
            <a:pPr marL="0" lvl="0" indent="0" algn="just" rtl="0">
              <a:spcBef>
                <a:spcPts val="0"/>
              </a:spcBef>
              <a:spcAft>
                <a:spcPts val="0"/>
              </a:spcAft>
              <a:buNone/>
            </a:pPr>
            <a:endParaRPr lang="en-US" sz="1500" dirty="0">
              <a:solidFill>
                <a:schemeClr val="dk1"/>
              </a:solidFill>
            </a:endParaRPr>
          </a:p>
          <a:p>
            <a:pPr marL="0" lvl="0" indent="0" algn="just" rtl="0">
              <a:spcBef>
                <a:spcPts val="0"/>
              </a:spcBef>
              <a:spcAft>
                <a:spcPts val="0"/>
              </a:spcAft>
            </a:pPr>
            <a:r>
              <a:rPr lang="en-US" sz="1500" dirty="0">
                <a:solidFill>
                  <a:schemeClr val="dk1"/>
                </a:solidFill>
              </a:rPr>
              <a:t> Why do they need it?</a:t>
            </a:r>
          </a:p>
          <a:p>
            <a:pPr marL="0" lvl="0" indent="0" algn="just" rtl="0">
              <a:spcBef>
                <a:spcPts val="0"/>
              </a:spcBef>
              <a:spcAft>
                <a:spcPts val="0"/>
              </a:spcAft>
              <a:buNone/>
            </a:pPr>
            <a:r>
              <a:rPr lang="en-US" sz="1500" dirty="0">
                <a:solidFill>
                  <a:schemeClr val="dk1"/>
                </a:solidFill>
              </a:rPr>
              <a:t>They need it because exposure to polluted air can lead to various health problems, including respiratory issues, cardiovascular diseases, and decreased overall well-being. Additionally, pollution harms the environment, affecting ecosystems and biodiversity.</a:t>
            </a:r>
          </a:p>
          <a:p>
            <a:pPr marL="0" lvl="0" indent="0" algn="just" rtl="0">
              <a:spcBef>
                <a:spcPts val="0"/>
              </a:spcBef>
              <a:spcAft>
                <a:spcPts val="0"/>
              </a:spcAft>
              <a:buNone/>
            </a:pPr>
            <a:endParaRPr lang="en-US" sz="1500" dirty="0">
              <a:solidFill>
                <a:schemeClr val="dk1"/>
              </a:solidFill>
            </a:endParaRPr>
          </a:p>
          <a:p>
            <a:pPr marL="0" lvl="0" indent="0" algn="just" rtl="0">
              <a:spcBef>
                <a:spcPts val="0"/>
              </a:spcBef>
              <a:spcAft>
                <a:spcPts val="0"/>
              </a:spcAft>
              <a:buNone/>
            </a:pPr>
            <a:r>
              <a:rPr lang="en-US" sz="1500" dirty="0">
                <a:solidFill>
                  <a:schemeClr val="dk1"/>
                </a:solidFill>
              </a:rPr>
              <a:t>Our goal is to develop a solution that effectively reduces air pollution and improves air quality in Indian cities, providing residents with cleaner and healthier surroundings.</a:t>
            </a:r>
            <a:endParaRPr sz="1500" dirty="0">
              <a:solidFill>
                <a:schemeClr val="dk1"/>
              </a:solidFill>
            </a:endParaRPr>
          </a:p>
        </p:txBody>
      </p:sp>
      <p:pic>
        <p:nvPicPr>
          <p:cNvPr id="85" name="Google Shape;85;p17"/>
          <p:cNvPicPr preferRelativeResize="0"/>
          <p:nvPr/>
        </p:nvPicPr>
        <p:blipFill>
          <a:blip r:embed="rId3">
            <a:alphaModFix/>
          </a:blip>
          <a:stretch>
            <a:fillRect/>
          </a:stretch>
        </p:blipFill>
        <p:spPr>
          <a:xfrm>
            <a:off x="0" y="0"/>
            <a:ext cx="1063200" cy="106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ctrTitle"/>
          </p:nvPr>
        </p:nvSpPr>
        <p:spPr>
          <a:xfrm>
            <a:off x="0" y="0"/>
            <a:ext cx="9144000" cy="1155000"/>
          </a:xfrm>
          <a:prstGeom prst="rect">
            <a:avLst/>
          </a:prstGeom>
          <a:solidFill>
            <a:srgbClr val="FF9900"/>
          </a:solidFill>
        </p:spPr>
        <p:txBody>
          <a:bodyPr spcFirstLastPara="1" vert="horz" wrap="square" lIns="91425" tIns="91425" rIns="91425" bIns="91425" rtlCol="0" anchor="t" anchorCtr="0">
            <a:noAutofit/>
          </a:bodyPr>
          <a:lstStyle/>
          <a:p>
            <a:pPr>
              <a:buSzPts val="1100"/>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r>
              <a:rPr lang="en" sz="1100" b="1">
                <a:latin typeface="Cambria"/>
                <a:ea typeface="Cambria"/>
                <a:cs typeface="Cambria"/>
                <a:sym typeface="Cambria"/>
              </a:rPr>
              <a:t>MIT School of Computing</a:t>
            </a:r>
            <a:endParaRPr sz="1100" b="1">
              <a:latin typeface="Cambria"/>
              <a:ea typeface="Cambria"/>
              <a:cs typeface="Cambria"/>
              <a:sym typeface="Cambria"/>
            </a:endParaRPr>
          </a:p>
          <a:p>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r>
              <a:rPr lang="en" sz="1100" b="1">
                <a:latin typeface="Cambria"/>
                <a:ea typeface="Cambria"/>
                <a:cs typeface="Cambria"/>
                <a:sym typeface="Cambria"/>
              </a:rPr>
              <a:t>F.Y B.Tech [ASH] A.Y 2023-24 Sem-II</a:t>
            </a:r>
            <a:endParaRPr sz="1100" b="1">
              <a:latin typeface="Cambria"/>
              <a:ea typeface="Cambria"/>
              <a:cs typeface="Cambria"/>
              <a:sym typeface="Cambria"/>
            </a:endParaRPr>
          </a:p>
          <a:p>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91" name="Google Shape;91;p18"/>
          <p:cNvSpPr txBox="1">
            <a:spLocks noGrp="1"/>
          </p:cNvSpPr>
          <p:nvPr>
            <p:ph type="subTitle" idx="1"/>
          </p:nvPr>
        </p:nvSpPr>
        <p:spPr>
          <a:xfrm>
            <a:off x="0" y="1155000"/>
            <a:ext cx="9144000" cy="3922500"/>
          </a:xfrm>
          <a:prstGeom prst="rect">
            <a:avLst/>
          </a:prstGeom>
        </p:spPr>
        <p:txBody>
          <a:bodyPr spcFirstLastPara="1" vert="horz" wrap="square" lIns="91425" tIns="91425" rIns="91425" bIns="91425" rtlCol="0" anchor="t" anchorCtr="0">
            <a:normAutofit/>
          </a:bodyPr>
          <a:lstStyle/>
          <a:p>
            <a:pPr marL="12700" algn="l">
              <a:lnSpc>
                <a:spcPct val="115000"/>
              </a:lnSpc>
            </a:pPr>
            <a:r>
              <a:rPr lang="en" sz="1700" dirty="0">
                <a:solidFill>
                  <a:schemeClr val="dk1"/>
                </a:solidFill>
              </a:rPr>
              <a:t>❖Empathy Chart</a:t>
            </a:r>
            <a:endParaRPr sz="1700" dirty="0">
              <a:solidFill>
                <a:schemeClr val="dk1"/>
              </a:solidFill>
            </a:endParaRPr>
          </a:p>
          <a:p>
            <a:pPr algn="l"/>
            <a:endParaRPr lang="en-IN" sz="1400" dirty="0">
              <a:solidFill>
                <a:schemeClr val="dk1"/>
              </a:solidFill>
            </a:endParaRPr>
          </a:p>
        </p:txBody>
      </p:sp>
      <p:pic>
        <p:nvPicPr>
          <p:cNvPr id="92" name="Google Shape;92;p18"/>
          <p:cNvPicPr preferRelativeResize="0"/>
          <p:nvPr/>
        </p:nvPicPr>
        <p:blipFill>
          <a:blip r:embed="rId3">
            <a:alphaModFix/>
          </a:blip>
          <a:stretch>
            <a:fillRect/>
          </a:stretch>
        </p:blipFill>
        <p:spPr>
          <a:xfrm>
            <a:off x="0" y="0"/>
            <a:ext cx="1063200" cy="1063200"/>
          </a:xfrm>
          <a:prstGeom prst="rect">
            <a:avLst/>
          </a:prstGeom>
          <a:noFill/>
          <a:ln>
            <a:noFill/>
          </a:ln>
        </p:spPr>
      </p:pic>
      <p:sp>
        <p:nvSpPr>
          <p:cNvPr id="2" name="Oval 1">
            <a:extLst>
              <a:ext uri="{FF2B5EF4-FFF2-40B4-BE49-F238E27FC236}">
                <a16:creationId xmlns:a16="http://schemas.microsoft.com/office/drawing/2014/main" id="{0423F887-6BAA-56B8-0E44-F61D029F94C5}"/>
              </a:ext>
            </a:extLst>
          </p:cNvPr>
          <p:cNvSpPr/>
          <p:nvPr/>
        </p:nvSpPr>
        <p:spPr>
          <a:xfrm>
            <a:off x="3134591" y="2476498"/>
            <a:ext cx="2874819" cy="1101437"/>
          </a:xfrm>
          <a:prstGeom prst="ellipse">
            <a:avLst/>
          </a:prstGeom>
          <a:solidFill>
            <a:schemeClr val="tx2">
              <a:lumMod val="9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b="1" dirty="0">
                <a:solidFill>
                  <a:schemeClr val="tx1"/>
                </a:solidFill>
                <a:latin typeface="Comic Sans MS"/>
                <a:ea typeface="Comic Sans MS"/>
                <a:cs typeface="Comic Sans MS"/>
                <a:sym typeface="Comic Sans MS"/>
              </a:rPr>
              <a:t>Micro Algae Based Air Purifier </a:t>
            </a:r>
            <a:endParaRPr lang="en-IN" sz="1800" dirty="0">
              <a:solidFill>
                <a:schemeClr val="tx1"/>
              </a:solidFill>
            </a:endParaRPr>
          </a:p>
        </p:txBody>
      </p:sp>
      <p:cxnSp>
        <p:nvCxnSpPr>
          <p:cNvPr id="4" name="Straight Connector 3">
            <a:extLst>
              <a:ext uri="{FF2B5EF4-FFF2-40B4-BE49-F238E27FC236}">
                <a16:creationId xmlns:a16="http://schemas.microsoft.com/office/drawing/2014/main" id="{DD46BF27-071F-EE9F-5A8E-1F836B4224E2}"/>
              </a:ext>
            </a:extLst>
          </p:cNvPr>
          <p:cNvCxnSpPr>
            <a:cxnSpLocks/>
            <a:stCxn id="2" idx="7"/>
          </p:cNvCxnSpPr>
          <p:nvPr/>
        </p:nvCxnSpPr>
        <p:spPr>
          <a:xfrm flipV="1">
            <a:off x="5588403" y="1610589"/>
            <a:ext cx="3486325" cy="102721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74ABA7-6AEE-2341-C082-42F3A88DE0FF}"/>
              </a:ext>
            </a:extLst>
          </p:cNvPr>
          <p:cNvCxnSpPr>
            <a:cxnSpLocks/>
            <a:endCxn id="2" idx="1"/>
          </p:cNvCxnSpPr>
          <p:nvPr/>
        </p:nvCxnSpPr>
        <p:spPr>
          <a:xfrm>
            <a:off x="124692" y="1610589"/>
            <a:ext cx="3430906" cy="102721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48E1B7D-26CA-D23F-548A-9A0E66822C48}"/>
              </a:ext>
            </a:extLst>
          </p:cNvPr>
          <p:cNvCxnSpPr>
            <a:cxnSpLocks/>
            <a:endCxn id="2" idx="3"/>
          </p:cNvCxnSpPr>
          <p:nvPr/>
        </p:nvCxnSpPr>
        <p:spPr>
          <a:xfrm flipV="1">
            <a:off x="1" y="3416633"/>
            <a:ext cx="3555597" cy="170262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1034B37-C098-BD46-09ED-8249825A28AB}"/>
              </a:ext>
            </a:extLst>
          </p:cNvPr>
          <p:cNvCxnSpPr>
            <a:cxnSpLocks/>
            <a:stCxn id="2" idx="5"/>
          </p:cNvCxnSpPr>
          <p:nvPr/>
        </p:nvCxnSpPr>
        <p:spPr>
          <a:xfrm>
            <a:off x="5588403" y="3416633"/>
            <a:ext cx="3555598" cy="172842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0A38F48-C531-AF9B-4786-789D306C6D57}"/>
              </a:ext>
            </a:extLst>
          </p:cNvPr>
          <p:cNvSpPr txBox="1"/>
          <p:nvPr/>
        </p:nvSpPr>
        <p:spPr>
          <a:xfrm>
            <a:off x="1840145" y="4108667"/>
            <a:ext cx="5940137" cy="923330"/>
          </a:xfrm>
          <a:prstGeom prst="rect">
            <a:avLst/>
          </a:prstGeom>
          <a:noFill/>
        </p:spPr>
        <p:txBody>
          <a:bodyPr wrap="square" rtlCol="0">
            <a:spAutoFit/>
          </a:bodyPr>
          <a:lstStyle/>
          <a:p>
            <a:pPr algn="l">
              <a:buFont typeface="Arial" panose="020B0604020202020204" pitchFamily="34" charset="0"/>
              <a:buChar char="•"/>
            </a:pPr>
            <a:r>
              <a:rPr lang="en-US" sz="1800" b="1" dirty="0"/>
              <a:t>Impact on Environment</a:t>
            </a:r>
            <a:r>
              <a:rPr lang="en-US" sz="1800" dirty="0"/>
              <a:t>: The purifier could have a positive impact by reducing air pollutants and contributing to a cleaner atmosphere.</a:t>
            </a:r>
          </a:p>
        </p:txBody>
      </p:sp>
      <p:sp>
        <p:nvSpPr>
          <p:cNvPr id="16" name="TextBox 15">
            <a:extLst>
              <a:ext uri="{FF2B5EF4-FFF2-40B4-BE49-F238E27FC236}">
                <a16:creationId xmlns:a16="http://schemas.microsoft.com/office/drawing/2014/main" id="{3B411EF7-F158-D31A-9078-4AF5B4F20823}"/>
              </a:ext>
            </a:extLst>
          </p:cNvPr>
          <p:cNvSpPr txBox="1"/>
          <p:nvPr/>
        </p:nvSpPr>
        <p:spPr>
          <a:xfrm>
            <a:off x="2346439" y="1155000"/>
            <a:ext cx="5209309" cy="1200329"/>
          </a:xfrm>
          <a:prstGeom prst="rect">
            <a:avLst/>
          </a:prstGeom>
          <a:noFill/>
        </p:spPr>
        <p:txBody>
          <a:bodyPr wrap="square" rtlCol="0">
            <a:spAutoFit/>
          </a:bodyPr>
          <a:lstStyle/>
          <a:p>
            <a:r>
              <a:rPr lang="en-US" sz="1800" b="1" dirty="0"/>
              <a:t>Users’ Feelings</a:t>
            </a:r>
            <a:r>
              <a:rPr lang="en-US" sz="1800" dirty="0"/>
              <a:t>: Users might feel intrigued by the innovative use of microalgae and hopeful about its potential environmental benefits.</a:t>
            </a:r>
          </a:p>
        </p:txBody>
      </p:sp>
      <p:sp>
        <p:nvSpPr>
          <p:cNvPr id="19" name="TextBox 18">
            <a:extLst>
              <a:ext uri="{FF2B5EF4-FFF2-40B4-BE49-F238E27FC236}">
                <a16:creationId xmlns:a16="http://schemas.microsoft.com/office/drawing/2014/main" id="{01862BC2-18BC-8DA2-2EEA-F5FAD2E552F2}"/>
              </a:ext>
            </a:extLst>
          </p:cNvPr>
          <p:cNvSpPr txBox="1"/>
          <p:nvPr/>
        </p:nvSpPr>
        <p:spPr>
          <a:xfrm>
            <a:off x="197427" y="2368096"/>
            <a:ext cx="2149011" cy="1846659"/>
          </a:xfrm>
          <a:prstGeom prst="rect">
            <a:avLst/>
          </a:prstGeom>
          <a:noFill/>
        </p:spPr>
        <p:txBody>
          <a:bodyPr wrap="square" rtlCol="0">
            <a:spAutoFit/>
          </a:bodyPr>
          <a:lstStyle/>
          <a:p>
            <a:r>
              <a:rPr lang="en-US" sz="1600" b="1" dirty="0"/>
              <a:t>Users’ Thoughts</a:t>
            </a:r>
            <a:r>
              <a:rPr lang="en-US" sz="1600" dirty="0"/>
              <a:t>: They may think about the effectiveness of the purifier, its cost, and how it compares to traditional purifiers.</a:t>
            </a:r>
          </a:p>
          <a:p>
            <a:endParaRPr lang="en-IN" sz="1800" dirty="0"/>
          </a:p>
        </p:txBody>
      </p:sp>
      <p:sp>
        <p:nvSpPr>
          <p:cNvPr id="20" name="TextBox 19">
            <a:extLst>
              <a:ext uri="{FF2B5EF4-FFF2-40B4-BE49-F238E27FC236}">
                <a16:creationId xmlns:a16="http://schemas.microsoft.com/office/drawing/2014/main" id="{F4F756BA-BF98-F9F7-163B-7CD4BAC22DEB}"/>
              </a:ext>
            </a:extLst>
          </p:cNvPr>
          <p:cNvSpPr txBox="1"/>
          <p:nvPr/>
        </p:nvSpPr>
        <p:spPr>
          <a:xfrm>
            <a:off x="6750805" y="2247282"/>
            <a:ext cx="2393196" cy="1815882"/>
          </a:xfrm>
          <a:prstGeom prst="rect">
            <a:avLst/>
          </a:prstGeom>
          <a:noFill/>
        </p:spPr>
        <p:txBody>
          <a:bodyPr wrap="square" rtlCol="0">
            <a:spAutoFit/>
          </a:bodyPr>
          <a:lstStyle/>
          <a:p>
            <a:r>
              <a:rPr lang="en-US" sz="1600" b="1" dirty="0"/>
              <a:t>Users’ Actions</a:t>
            </a:r>
            <a:r>
              <a:rPr lang="en-US" sz="1600" dirty="0"/>
              <a:t>: Potential actions include researching the technology, purchasing the product, or recommending it to others.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98" name="Google Shape;98;p19"/>
          <p:cNvSpPr txBox="1">
            <a:spLocks noGrp="1"/>
          </p:cNvSpPr>
          <p:nvPr>
            <p:ph type="subTitle" idx="1"/>
          </p:nvPr>
        </p:nvSpPr>
        <p:spPr>
          <a:xfrm>
            <a:off x="-1" y="1155000"/>
            <a:ext cx="5992091" cy="3922500"/>
          </a:xfrm>
          <a:prstGeom prst="rect">
            <a:avLst/>
          </a:prstGeom>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700" dirty="0">
                <a:solidFill>
                  <a:schemeClr val="dk1"/>
                </a:solidFill>
              </a:rPr>
              <a:t>❖Point of View Statement</a:t>
            </a:r>
            <a:endParaRPr lang="en-US" sz="1700" dirty="0">
              <a:solidFill>
                <a:schemeClr val="dk1"/>
              </a:solidFill>
            </a:endParaRPr>
          </a:p>
          <a:p>
            <a:pPr marL="12700" lvl="0" indent="0" algn="l" rtl="0">
              <a:lnSpc>
                <a:spcPct val="115000"/>
              </a:lnSpc>
              <a:spcBef>
                <a:spcPts val="0"/>
              </a:spcBef>
              <a:spcAft>
                <a:spcPts val="0"/>
              </a:spcAft>
              <a:buNone/>
            </a:pPr>
            <a:endParaRPr lang="en-US" sz="1700" dirty="0">
              <a:solidFill>
                <a:schemeClr val="dk1"/>
              </a:solidFill>
            </a:endParaRPr>
          </a:p>
          <a:p>
            <a:pPr marL="12700" lvl="0" indent="0" algn="l" rtl="0">
              <a:lnSpc>
                <a:spcPct val="115000"/>
              </a:lnSpc>
              <a:spcBef>
                <a:spcPts val="0"/>
              </a:spcBef>
              <a:spcAft>
                <a:spcPts val="0"/>
              </a:spcAft>
              <a:buNone/>
            </a:pPr>
            <a:endParaRPr lang="en-US" sz="1700" dirty="0">
              <a:solidFill>
                <a:schemeClr val="dk1"/>
              </a:solidFill>
            </a:endParaRPr>
          </a:p>
          <a:p>
            <a:pPr marL="12700" lvl="0" indent="0" algn="l" rtl="0">
              <a:lnSpc>
                <a:spcPct val="115000"/>
              </a:lnSpc>
              <a:spcBef>
                <a:spcPts val="0"/>
              </a:spcBef>
              <a:spcAft>
                <a:spcPts val="0"/>
              </a:spcAft>
              <a:buNone/>
            </a:pPr>
            <a:r>
              <a:rPr lang="en-US" sz="1700" dirty="0">
                <a:solidFill>
                  <a:schemeClr val="dk1"/>
                </a:solidFill>
              </a:rPr>
              <a:t>We care about making the air cleaner in residential area. because we believe everyone deserves to breathe fresh and healthy air. We know that the current ways of cleaning the air aren't good enough, so we're looking for new solutions. We think using microalgae to clean the air could be a great idea. By working together, we want to make our cities healthier and better places to live.</a:t>
            </a:r>
          </a:p>
          <a:p>
            <a:pPr marL="0" lvl="0" indent="0" algn="l" rtl="0">
              <a:spcBef>
                <a:spcPts val="0"/>
              </a:spcBef>
              <a:spcAft>
                <a:spcPts val="0"/>
              </a:spcAft>
              <a:buNone/>
            </a:pPr>
            <a:endParaRPr sz="1400" dirty="0">
              <a:solidFill>
                <a:schemeClr val="dk1"/>
              </a:solidFill>
            </a:endParaRPr>
          </a:p>
        </p:txBody>
      </p:sp>
      <p:pic>
        <p:nvPicPr>
          <p:cNvPr id="99" name="Google Shape;99;p19"/>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7170" name="Picture 2" descr="generate imgae for &quot;We care about making the air cleaner in Indian cities because we believe everyone deserves to breathe fresh and healthy air. We know that the current ways of cleaning the air aren't good enough, so we're looking for new solutions. We think using microalgae to clean the air could be a great idea. By working together, we want to make our cities healthier and better places to live.&quot;">
            <a:extLst>
              <a:ext uri="{FF2B5EF4-FFF2-40B4-BE49-F238E27FC236}">
                <a16:creationId xmlns:a16="http://schemas.microsoft.com/office/drawing/2014/main" id="{EFD6BF85-BDBC-C09D-5D7F-CA3CC0A76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1871" y="1553442"/>
            <a:ext cx="1812347" cy="329218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05" name="Google Shape;105;p20"/>
          <p:cNvSpPr txBox="1">
            <a:spLocks noGrp="1"/>
          </p:cNvSpPr>
          <p:nvPr>
            <p:ph type="subTitle" idx="1"/>
          </p:nvPr>
        </p:nvSpPr>
        <p:spPr>
          <a:xfrm>
            <a:off x="0" y="1155000"/>
            <a:ext cx="9144000" cy="3922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700" dirty="0">
                <a:solidFill>
                  <a:schemeClr val="dk1"/>
                </a:solidFill>
              </a:rPr>
              <a:t>❖Ideation</a:t>
            </a:r>
            <a:endParaRPr sz="1700" dirty="0">
              <a:solidFill>
                <a:schemeClr val="dk1"/>
              </a:solidFill>
            </a:endParaRPr>
          </a:p>
          <a:p>
            <a:pPr marL="12700" lvl="0" indent="0" algn="l" rtl="0">
              <a:lnSpc>
                <a:spcPct val="115000"/>
              </a:lnSpc>
              <a:spcBef>
                <a:spcPts val="0"/>
              </a:spcBef>
              <a:spcAft>
                <a:spcPts val="0"/>
              </a:spcAft>
              <a:buNone/>
            </a:pPr>
            <a:endParaRPr sz="1700" dirty="0">
              <a:solidFill>
                <a:schemeClr val="dk1"/>
              </a:solidFill>
            </a:endParaRPr>
          </a:p>
          <a:p>
            <a:pPr marL="0" lvl="0" indent="0" algn="l" rtl="0">
              <a:spcBef>
                <a:spcPts val="0"/>
              </a:spcBef>
              <a:spcAft>
                <a:spcPts val="0"/>
              </a:spcAft>
              <a:buNone/>
            </a:pPr>
            <a:endParaRPr sz="1400" dirty="0">
              <a:solidFill>
                <a:schemeClr val="dk1"/>
              </a:solidFill>
            </a:endParaRPr>
          </a:p>
        </p:txBody>
      </p:sp>
      <p:pic>
        <p:nvPicPr>
          <p:cNvPr id="106" name="Google Shape;106;p20"/>
          <p:cNvPicPr preferRelativeResize="0"/>
          <p:nvPr/>
        </p:nvPicPr>
        <p:blipFill>
          <a:blip r:embed="rId3">
            <a:alphaModFix/>
          </a:blip>
          <a:stretch>
            <a:fillRect/>
          </a:stretch>
        </p:blipFill>
        <p:spPr>
          <a:xfrm>
            <a:off x="0" y="0"/>
            <a:ext cx="1063200" cy="1063200"/>
          </a:xfrm>
          <a:prstGeom prst="rect">
            <a:avLst/>
          </a:prstGeom>
          <a:noFill/>
          <a:ln>
            <a:noFill/>
          </a:ln>
        </p:spPr>
      </p:pic>
      <p:graphicFrame>
        <p:nvGraphicFramePr>
          <p:cNvPr id="107" name="Google Shape;107;p20"/>
          <p:cNvGraphicFramePr/>
          <p:nvPr>
            <p:extLst>
              <p:ext uri="{D42A27DB-BD31-4B8C-83A1-F6EECF244321}">
                <p14:modId xmlns:p14="http://schemas.microsoft.com/office/powerpoint/2010/main" val="2086294811"/>
              </p:ext>
            </p:extLst>
          </p:nvPr>
        </p:nvGraphicFramePr>
        <p:xfrm>
          <a:off x="952500" y="2000250"/>
          <a:ext cx="7239000" cy="2236033"/>
        </p:xfrm>
        <a:graphic>
          <a:graphicData uri="http://schemas.openxmlformats.org/drawingml/2006/table">
            <a:tbl>
              <a:tblPr>
                <a:noFill/>
                <a:tableStyleId>{26269662-02CB-45A4-AD5F-5950606A1FE2}</a:tableStyleId>
              </a:tblPr>
              <a:tblGrid>
                <a:gridCol w="856225">
                  <a:extLst>
                    <a:ext uri="{9D8B030D-6E8A-4147-A177-3AD203B41FA5}">
                      <a16:colId xmlns:a16="http://schemas.microsoft.com/office/drawing/2014/main" val="20000"/>
                    </a:ext>
                  </a:extLst>
                </a:gridCol>
                <a:gridCol w="2504575">
                  <a:extLst>
                    <a:ext uri="{9D8B030D-6E8A-4147-A177-3AD203B41FA5}">
                      <a16:colId xmlns:a16="http://schemas.microsoft.com/office/drawing/2014/main" val="20001"/>
                    </a:ext>
                  </a:extLst>
                </a:gridCol>
                <a:gridCol w="3878200">
                  <a:extLst>
                    <a:ext uri="{9D8B030D-6E8A-4147-A177-3AD203B41FA5}">
                      <a16:colId xmlns:a16="http://schemas.microsoft.com/office/drawing/2014/main" val="20002"/>
                    </a:ext>
                  </a:extLst>
                </a:gridCol>
              </a:tblGrid>
              <a:tr h="381000">
                <a:tc>
                  <a:txBody>
                    <a:bodyPr/>
                    <a:lstStyle/>
                    <a:p>
                      <a:pPr marL="0" lvl="0" indent="0" algn="l" rtl="0">
                        <a:lnSpc>
                          <a:spcPct val="115000"/>
                        </a:lnSpc>
                        <a:spcBef>
                          <a:spcPts val="0"/>
                        </a:spcBef>
                        <a:spcAft>
                          <a:spcPts val="0"/>
                        </a:spcAft>
                        <a:buNone/>
                      </a:pPr>
                      <a:r>
                        <a:rPr lang="en"/>
                        <a:t>Sr.No</a:t>
                      </a:r>
                      <a:endParaRPr/>
                    </a:p>
                  </a:txBody>
                  <a:tcPr marL="91425" marR="91425" marT="91425" marB="91425"/>
                </a:tc>
                <a:tc>
                  <a:txBody>
                    <a:bodyPr/>
                    <a:lstStyle/>
                    <a:p>
                      <a:pPr marL="0" lvl="0" indent="0" algn="l" rtl="0">
                        <a:lnSpc>
                          <a:spcPct val="115000"/>
                        </a:lnSpc>
                        <a:spcBef>
                          <a:spcPts val="0"/>
                        </a:spcBef>
                        <a:spcAft>
                          <a:spcPts val="0"/>
                        </a:spcAft>
                        <a:buNone/>
                      </a:pPr>
                      <a:r>
                        <a:rPr lang="en"/>
                        <a:t>Requirement</a:t>
                      </a:r>
                      <a:endParaRPr/>
                    </a:p>
                  </a:txBody>
                  <a:tcPr marL="91425" marR="91425" marT="91425" marB="91425"/>
                </a:tc>
                <a:tc>
                  <a:txBody>
                    <a:bodyPr/>
                    <a:lstStyle/>
                    <a:p>
                      <a:pPr marL="0" lvl="0" indent="0" algn="l" rtl="0">
                        <a:lnSpc>
                          <a:spcPct val="115000"/>
                        </a:lnSpc>
                        <a:spcBef>
                          <a:spcPts val="0"/>
                        </a:spcBef>
                        <a:spcAft>
                          <a:spcPts val="0"/>
                        </a:spcAft>
                        <a:buNone/>
                      </a:pPr>
                      <a:r>
                        <a:rPr lang="en"/>
                        <a:t>Proposed Solution</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IN" dirty="0"/>
                        <a:t>Collection of pollution data</a:t>
                      </a:r>
                      <a:endParaRPr dirty="0"/>
                    </a:p>
                  </a:txBody>
                  <a:tcPr marL="91425" marR="91425" marT="91425" marB="91425"/>
                </a:tc>
                <a:tc>
                  <a:txBody>
                    <a:bodyPr/>
                    <a:lstStyle/>
                    <a:p>
                      <a:pPr marL="0" lvl="0" indent="0" algn="l" rtl="0">
                        <a:spcBef>
                          <a:spcPts val="0"/>
                        </a:spcBef>
                        <a:spcAft>
                          <a:spcPts val="0"/>
                        </a:spcAft>
                        <a:buNone/>
                      </a:pPr>
                      <a:r>
                        <a:rPr lang="en-IN" dirty="0"/>
                        <a:t>Uses of Air pollution sensor like PMS7003 &amp; MHZ19</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dirty="0"/>
                        <a:t>2</a:t>
                      </a:r>
                      <a:endParaRPr dirty="0"/>
                    </a:p>
                  </a:txBody>
                  <a:tcPr marL="91425" marR="91425" marT="91425" marB="91425"/>
                </a:tc>
                <a:tc>
                  <a:txBody>
                    <a:bodyPr/>
                    <a:lstStyle/>
                    <a:p>
                      <a:pPr marL="0" lvl="0" indent="0" algn="l" rtl="0">
                        <a:spcBef>
                          <a:spcPts val="0"/>
                        </a:spcBef>
                        <a:spcAft>
                          <a:spcPts val="0"/>
                        </a:spcAft>
                        <a:buNone/>
                      </a:pPr>
                      <a:r>
                        <a:rPr lang="en-IN" dirty="0"/>
                        <a:t>Pumping air to algae</a:t>
                      </a:r>
                      <a:endParaRPr dirty="0"/>
                    </a:p>
                  </a:txBody>
                  <a:tcPr marL="91425" marR="91425" marT="91425" marB="91425"/>
                </a:tc>
                <a:tc>
                  <a:txBody>
                    <a:bodyPr/>
                    <a:lstStyle/>
                    <a:p>
                      <a:pPr marL="0" lvl="0" indent="0" algn="l" rtl="0">
                        <a:spcBef>
                          <a:spcPts val="0"/>
                        </a:spcBef>
                        <a:spcAft>
                          <a:spcPts val="0"/>
                        </a:spcAft>
                        <a:buNone/>
                      </a:pPr>
                      <a:r>
                        <a:rPr lang="en-IN" dirty="0"/>
                        <a:t>Using pump which is controlled By microcontroller on the basis of data from sensors.</a:t>
                      </a:r>
                      <a:endParaRPr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13" name="Google Shape;113;p21"/>
          <p:cNvSpPr txBox="1">
            <a:spLocks noGrp="1"/>
          </p:cNvSpPr>
          <p:nvPr>
            <p:ph type="subTitle" idx="1"/>
          </p:nvPr>
        </p:nvSpPr>
        <p:spPr>
          <a:xfrm>
            <a:off x="0" y="1155000"/>
            <a:ext cx="9144000" cy="3922500"/>
          </a:xfrm>
          <a:prstGeom prst="rect">
            <a:avLst/>
          </a:prstGeom>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700" dirty="0">
                <a:solidFill>
                  <a:schemeClr val="dk1"/>
                </a:solidFill>
              </a:rPr>
              <a:t>❖Block Diagram</a:t>
            </a:r>
          </a:p>
          <a:p>
            <a:pPr marL="12700" lvl="0" indent="0" algn="l" rtl="0">
              <a:lnSpc>
                <a:spcPct val="115000"/>
              </a:lnSpc>
              <a:spcBef>
                <a:spcPts val="0"/>
              </a:spcBef>
              <a:spcAft>
                <a:spcPts val="0"/>
              </a:spcAft>
              <a:buNone/>
            </a:pPr>
            <a:endParaRPr sz="1700" dirty="0">
              <a:solidFill>
                <a:schemeClr val="dk1"/>
              </a:solidFill>
            </a:endParaRPr>
          </a:p>
        </p:txBody>
      </p:sp>
      <p:pic>
        <p:nvPicPr>
          <p:cNvPr id="114" name="Google Shape;114;p21"/>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3" name="Picture 2">
            <a:extLst>
              <a:ext uri="{FF2B5EF4-FFF2-40B4-BE49-F238E27FC236}">
                <a16:creationId xmlns:a16="http://schemas.microsoft.com/office/drawing/2014/main" id="{35A21F39-3789-A0B4-D3FC-FFD3EEB54BBB}"/>
              </a:ext>
            </a:extLst>
          </p:cNvPr>
          <p:cNvPicPr>
            <a:picLocks noChangeAspect="1"/>
          </p:cNvPicPr>
          <p:nvPr/>
        </p:nvPicPr>
        <p:blipFill>
          <a:blip r:embed="rId4"/>
          <a:stretch>
            <a:fillRect/>
          </a:stretch>
        </p:blipFill>
        <p:spPr>
          <a:xfrm>
            <a:off x="1946565" y="1221000"/>
            <a:ext cx="6130636" cy="3922500"/>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2E5479AA-C0A3-D9B1-7D5C-DED42C28820A}"/>
                  </a:ext>
                </a:extLst>
              </p14:cNvPr>
              <p14:cNvContentPartPr/>
              <p14:nvPr/>
            </p14:nvContentPartPr>
            <p14:xfrm>
              <a:off x="3629629" y="1314775"/>
              <a:ext cx="2142000" cy="146880"/>
            </p14:xfrm>
          </p:contentPart>
        </mc:Choice>
        <mc:Fallback xmlns="">
          <p:pic>
            <p:nvPicPr>
              <p:cNvPr id="4" name="Ink 3">
                <a:extLst>
                  <a:ext uri="{FF2B5EF4-FFF2-40B4-BE49-F238E27FC236}">
                    <a16:creationId xmlns:a16="http://schemas.microsoft.com/office/drawing/2014/main" id="{2E5479AA-C0A3-D9B1-7D5C-DED42C28820A}"/>
                  </a:ext>
                </a:extLst>
              </p:cNvPr>
              <p:cNvPicPr/>
              <p:nvPr/>
            </p:nvPicPr>
            <p:blipFill>
              <a:blip r:embed="rId6"/>
              <a:stretch>
                <a:fillRect/>
              </a:stretch>
            </p:blipFill>
            <p:spPr>
              <a:xfrm>
                <a:off x="3566989" y="1252135"/>
                <a:ext cx="22676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0687B534-79E3-D75E-90B4-A3A73C27D9B7}"/>
                  </a:ext>
                </a:extLst>
              </p14:cNvPr>
              <p14:cNvContentPartPr/>
              <p14:nvPr/>
            </p14:nvContentPartPr>
            <p14:xfrm>
              <a:off x="4985749" y="1377775"/>
              <a:ext cx="1524960" cy="77400"/>
            </p14:xfrm>
          </p:contentPart>
        </mc:Choice>
        <mc:Fallback xmlns="">
          <p:pic>
            <p:nvPicPr>
              <p:cNvPr id="5" name="Ink 4">
                <a:extLst>
                  <a:ext uri="{FF2B5EF4-FFF2-40B4-BE49-F238E27FC236}">
                    <a16:creationId xmlns:a16="http://schemas.microsoft.com/office/drawing/2014/main" id="{0687B534-79E3-D75E-90B4-A3A73C27D9B7}"/>
                  </a:ext>
                </a:extLst>
              </p:cNvPr>
              <p:cNvPicPr/>
              <p:nvPr/>
            </p:nvPicPr>
            <p:blipFill>
              <a:blip r:embed="rId8"/>
              <a:stretch>
                <a:fillRect/>
              </a:stretch>
            </p:blipFill>
            <p:spPr>
              <a:xfrm>
                <a:off x="4922749" y="1315135"/>
                <a:ext cx="1650600" cy="2030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13" name="Google Shape;113;p21"/>
          <p:cNvSpPr txBox="1">
            <a:spLocks noGrp="1"/>
          </p:cNvSpPr>
          <p:nvPr>
            <p:ph type="subTitle" idx="1"/>
          </p:nvPr>
        </p:nvSpPr>
        <p:spPr>
          <a:xfrm>
            <a:off x="0" y="1155000"/>
            <a:ext cx="2050473" cy="514473"/>
          </a:xfrm>
          <a:prstGeom prst="rect">
            <a:avLst/>
          </a:prstGeom>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800" dirty="0">
                <a:solidFill>
                  <a:schemeClr val="dk1"/>
                </a:solidFill>
              </a:rPr>
              <a:t>❖Algorithm</a:t>
            </a:r>
          </a:p>
          <a:p>
            <a:pPr marL="12700" lvl="0" indent="0" algn="l" rtl="0">
              <a:lnSpc>
                <a:spcPct val="115000"/>
              </a:lnSpc>
              <a:spcBef>
                <a:spcPts val="0"/>
              </a:spcBef>
              <a:spcAft>
                <a:spcPts val="0"/>
              </a:spcAft>
              <a:buNone/>
            </a:pPr>
            <a:endParaRPr lang="en-IN" sz="1400" dirty="0">
              <a:solidFill>
                <a:schemeClr val="dk1"/>
              </a:solidFill>
            </a:endParaRPr>
          </a:p>
        </p:txBody>
      </p:sp>
      <p:pic>
        <p:nvPicPr>
          <p:cNvPr id="114" name="Google Shape;114;p21"/>
          <p:cNvPicPr preferRelativeResize="0"/>
          <p:nvPr/>
        </p:nvPicPr>
        <p:blipFill>
          <a:blip r:embed="rId3">
            <a:alphaModFix/>
          </a:blip>
          <a:stretch>
            <a:fillRect/>
          </a:stretch>
        </p:blipFill>
        <p:spPr>
          <a:xfrm>
            <a:off x="0" y="0"/>
            <a:ext cx="1063200" cy="1063200"/>
          </a:xfrm>
          <a:prstGeom prst="rect">
            <a:avLst/>
          </a:prstGeom>
          <a:noFill/>
          <a:ln>
            <a:noFill/>
          </a:ln>
        </p:spPr>
      </p:pic>
      <p:sp>
        <p:nvSpPr>
          <p:cNvPr id="3" name="TextBox 2">
            <a:extLst>
              <a:ext uri="{FF2B5EF4-FFF2-40B4-BE49-F238E27FC236}">
                <a16:creationId xmlns:a16="http://schemas.microsoft.com/office/drawing/2014/main" id="{F59183B4-32D5-BCB1-2B32-1FDB71366D53}"/>
              </a:ext>
            </a:extLst>
          </p:cNvPr>
          <p:cNvSpPr txBox="1"/>
          <p:nvPr/>
        </p:nvSpPr>
        <p:spPr>
          <a:xfrm>
            <a:off x="228598" y="1669473"/>
            <a:ext cx="3990109" cy="2893100"/>
          </a:xfrm>
          <a:prstGeom prst="rect">
            <a:avLst/>
          </a:prstGeom>
          <a:noFill/>
        </p:spPr>
        <p:txBody>
          <a:bodyPr wrap="square">
            <a:spAutoFit/>
          </a:bodyPr>
          <a:lstStyle/>
          <a:p>
            <a:pPr marL="0" lvl="0" indent="0" algn="just" rtl="0">
              <a:spcBef>
                <a:spcPts val="0"/>
              </a:spcBef>
              <a:spcAft>
                <a:spcPts val="0"/>
              </a:spcAft>
            </a:pPr>
            <a:r>
              <a:rPr lang="en-US" dirty="0">
                <a:solidFill>
                  <a:schemeClr val="dk1"/>
                </a:solidFill>
              </a:rPr>
              <a:t>1. Identify the Problem:</a:t>
            </a:r>
          </a:p>
          <a:p>
            <a:pPr marL="0" lvl="0" indent="0" algn="just" rtl="0">
              <a:spcBef>
                <a:spcPts val="0"/>
              </a:spcBef>
              <a:spcAft>
                <a:spcPts val="0"/>
              </a:spcAft>
            </a:pPr>
            <a:r>
              <a:rPr lang="en-US" dirty="0">
                <a:solidFill>
                  <a:schemeClr val="dk1"/>
                </a:solidFill>
              </a:rPr>
              <a:t>   - Understand air pollution in residential areas.</a:t>
            </a:r>
          </a:p>
          <a:p>
            <a:pPr marL="0" lvl="0" indent="0" algn="just" rtl="0">
              <a:spcBef>
                <a:spcPts val="0"/>
              </a:spcBef>
              <a:spcAft>
                <a:spcPts val="0"/>
              </a:spcAft>
            </a:pPr>
            <a:endParaRPr lang="en-US" dirty="0">
              <a:solidFill>
                <a:schemeClr val="dk1"/>
              </a:solidFill>
            </a:endParaRPr>
          </a:p>
          <a:p>
            <a:pPr marL="0" lvl="0" indent="0" algn="just" rtl="0">
              <a:spcBef>
                <a:spcPts val="0"/>
              </a:spcBef>
              <a:spcAft>
                <a:spcPts val="0"/>
              </a:spcAft>
            </a:pPr>
            <a:r>
              <a:rPr lang="en-US" dirty="0">
                <a:solidFill>
                  <a:schemeClr val="dk1"/>
                </a:solidFill>
              </a:rPr>
              <a:t>2. Define User Needs:</a:t>
            </a:r>
          </a:p>
          <a:p>
            <a:pPr marL="0" lvl="0" indent="0" algn="just" rtl="0">
              <a:spcBef>
                <a:spcPts val="0"/>
              </a:spcBef>
              <a:spcAft>
                <a:spcPts val="0"/>
              </a:spcAft>
            </a:pPr>
            <a:r>
              <a:rPr lang="en-US" dirty="0">
                <a:solidFill>
                  <a:schemeClr val="dk1"/>
                </a:solidFill>
              </a:rPr>
              <a:t>   - Recognize the need for cleaner air for residents.</a:t>
            </a:r>
          </a:p>
          <a:p>
            <a:pPr marL="0" lvl="0" indent="0" algn="just" rtl="0">
              <a:spcBef>
                <a:spcPts val="0"/>
              </a:spcBef>
              <a:spcAft>
                <a:spcPts val="0"/>
              </a:spcAft>
            </a:pPr>
            <a:endParaRPr lang="en-US" dirty="0">
              <a:solidFill>
                <a:schemeClr val="dk1"/>
              </a:solidFill>
            </a:endParaRPr>
          </a:p>
          <a:p>
            <a:pPr marL="0" lvl="0" indent="0" algn="just" rtl="0">
              <a:spcBef>
                <a:spcPts val="0"/>
              </a:spcBef>
              <a:spcAft>
                <a:spcPts val="0"/>
              </a:spcAft>
            </a:pPr>
            <a:r>
              <a:rPr lang="en-US" dirty="0">
                <a:solidFill>
                  <a:schemeClr val="dk1"/>
                </a:solidFill>
              </a:rPr>
              <a:t>3. Generate Insights:</a:t>
            </a:r>
          </a:p>
          <a:p>
            <a:pPr marL="0" lvl="0" indent="0" algn="just" rtl="0">
              <a:spcBef>
                <a:spcPts val="0"/>
              </a:spcBef>
              <a:spcAft>
                <a:spcPts val="0"/>
              </a:spcAft>
            </a:pPr>
            <a:r>
              <a:rPr lang="en-US" dirty="0">
                <a:solidFill>
                  <a:schemeClr val="dk1"/>
                </a:solidFill>
              </a:rPr>
              <a:t>   - Learn about pollution sources and effects.</a:t>
            </a:r>
          </a:p>
          <a:p>
            <a:pPr marL="0" lvl="0" indent="0" algn="just" rtl="0">
              <a:spcBef>
                <a:spcPts val="0"/>
              </a:spcBef>
              <a:spcAft>
                <a:spcPts val="0"/>
              </a:spcAft>
            </a:pPr>
            <a:endParaRPr lang="en-US" dirty="0">
              <a:solidFill>
                <a:schemeClr val="dk1"/>
              </a:solidFill>
            </a:endParaRPr>
          </a:p>
          <a:p>
            <a:pPr marL="0" lvl="0" indent="0" algn="just" rtl="0">
              <a:spcBef>
                <a:spcPts val="0"/>
              </a:spcBef>
              <a:spcAft>
                <a:spcPts val="0"/>
              </a:spcAft>
            </a:pPr>
            <a:r>
              <a:rPr lang="en-US" dirty="0">
                <a:solidFill>
                  <a:schemeClr val="dk1"/>
                </a:solidFill>
              </a:rPr>
              <a:t>4. Develop Solution:</a:t>
            </a:r>
          </a:p>
          <a:p>
            <a:pPr marL="0" lvl="0" indent="0" algn="just" rtl="0">
              <a:spcBef>
                <a:spcPts val="0"/>
              </a:spcBef>
              <a:spcAft>
                <a:spcPts val="0"/>
              </a:spcAft>
            </a:pPr>
            <a:r>
              <a:rPr lang="en-US" dirty="0">
                <a:solidFill>
                  <a:schemeClr val="dk1"/>
                </a:solidFill>
              </a:rPr>
              <a:t>   - Create microalgae-based air purification systems.</a:t>
            </a:r>
          </a:p>
        </p:txBody>
      </p:sp>
      <p:sp>
        <p:nvSpPr>
          <p:cNvPr id="5" name="TextBox 4">
            <a:extLst>
              <a:ext uri="{FF2B5EF4-FFF2-40B4-BE49-F238E27FC236}">
                <a16:creationId xmlns:a16="http://schemas.microsoft.com/office/drawing/2014/main" id="{536F7F51-8F88-7C39-41F4-666F484CCA40}"/>
              </a:ext>
            </a:extLst>
          </p:cNvPr>
          <p:cNvSpPr txBox="1"/>
          <p:nvPr/>
        </p:nvSpPr>
        <p:spPr>
          <a:xfrm>
            <a:off x="4572000" y="1669473"/>
            <a:ext cx="4135581" cy="2677656"/>
          </a:xfrm>
          <a:prstGeom prst="rect">
            <a:avLst/>
          </a:prstGeom>
          <a:noFill/>
        </p:spPr>
        <p:txBody>
          <a:bodyPr wrap="square">
            <a:spAutoFit/>
          </a:bodyPr>
          <a:lstStyle/>
          <a:p>
            <a:pPr marL="0" lvl="0" indent="0" algn="just" rtl="0">
              <a:spcBef>
                <a:spcPts val="0"/>
              </a:spcBef>
              <a:spcAft>
                <a:spcPts val="0"/>
              </a:spcAft>
            </a:pPr>
            <a:r>
              <a:rPr lang="en-US" sz="1400" dirty="0">
                <a:solidFill>
                  <a:schemeClr val="dk1"/>
                </a:solidFill>
              </a:rPr>
              <a:t>5. Collaboration and Action:</a:t>
            </a:r>
          </a:p>
          <a:p>
            <a:pPr marL="0" lvl="0" indent="0" algn="just" rtl="0">
              <a:spcBef>
                <a:spcPts val="0"/>
              </a:spcBef>
              <a:spcAft>
                <a:spcPts val="0"/>
              </a:spcAft>
            </a:pPr>
            <a:r>
              <a:rPr lang="en-US" sz="1400" dirty="0">
                <a:solidFill>
                  <a:schemeClr val="dk1"/>
                </a:solidFill>
              </a:rPr>
              <a:t>   - Work with others to implement solutions.</a:t>
            </a:r>
          </a:p>
          <a:p>
            <a:pPr marL="0" lvl="0" indent="0" algn="just" rtl="0">
              <a:spcBef>
                <a:spcPts val="0"/>
              </a:spcBef>
              <a:spcAft>
                <a:spcPts val="0"/>
              </a:spcAft>
            </a:pPr>
            <a:endParaRPr lang="en-US" sz="1400" dirty="0">
              <a:solidFill>
                <a:schemeClr val="dk1"/>
              </a:solidFill>
            </a:endParaRPr>
          </a:p>
          <a:p>
            <a:pPr marL="0" lvl="0" indent="0" algn="just" rtl="0">
              <a:spcBef>
                <a:spcPts val="0"/>
              </a:spcBef>
              <a:spcAft>
                <a:spcPts val="0"/>
              </a:spcAft>
            </a:pPr>
            <a:r>
              <a:rPr lang="en-US" sz="1400" dirty="0">
                <a:solidFill>
                  <a:schemeClr val="dk1"/>
                </a:solidFill>
              </a:rPr>
              <a:t>6. Evaluation and Adjustment:</a:t>
            </a:r>
          </a:p>
          <a:p>
            <a:pPr marL="0" lvl="0" indent="0" algn="just" rtl="0">
              <a:spcBef>
                <a:spcPts val="0"/>
              </a:spcBef>
              <a:spcAft>
                <a:spcPts val="0"/>
              </a:spcAft>
            </a:pPr>
            <a:r>
              <a:rPr lang="en-US" sz="1400" dirty="0">
                <a:solidFill>
                  <a:schemeClr val="dk1"/>
                </a:solidFill>
              </a:rPr>
              <a:t>   - Monitor and adjust solutions as needed.</a:t>
            </a:r>
          </a:p>
          <a:p>
            <a:pPr marL="0" lvl="0" indent="0" algn="just" rtl="0">
              <a:spcBef>
                <a:spcPts val="0"/>
              </a:spcBef>
              <a:spcAft>
                <a:spcPts val="0"/>
              </a:spcAft>
            </a:pPr>
            <a:endParaRPr lang="en-US" sz="1400" dirty="0">
              <a:solidFill>
                <a:schemeClr val="dk1"/>
              </a:solidFill>
            </a:endParaRPr>
          </a:p>
          <a:p>
            <a:pPr marL="0" lvl="0" indent="0" algn="just" rtl="0">
              <a:spcBef>
                <a:spcPts val="0"/>
              </a:spcBef>
              <a:spcAft>
                <a:spcPts val="0"/>
              </a:spcAft>
            </a:pPr>
            <a:r>
              <a:rPr lang="en-US" sz="1400" dirty="0">
                <a:solidFill>
                  <a:schemeClr val="dk1"/>
                </a:solidFill>
              </a:rPr>
              <a:t>7. Impact Assessment:</a:t>
            </a:r>
          </a:p>
          <a:p>
            <a:pPr marL="0" lvl="0" indent="0" algn="just" rtl="0">
              <a:spcBef>
                <a:spcPts val="0"/>
              </a:spcBef>
              <a:spcAft>
                <a:spcPts val="0"/>
              </a:spcAft>
            </a:pPr>
            <a:r>
              <a:rPr lang="en-US" sz="1400" dirty="0">
                <a:solidFill>
                  <a:schemeClr val="dk1"/>
                </a:solidFill>
              </a:rPr>
              <a:t>   - Measure the effects of solutions on health and environment.</a:t>
            </a:r>
          </a:p>
          <a:p>
            <a:pPr marL="0" lvl="0" indent="0" algn="just" rtl="0">
              <a:spcBef>
                <a:spcPts val="0"/>
              </a:spcBef>
              <a:spcAft>
                <a:spcPts val="0"/>
              </a:spcAft>
            </a:pPr>
            <a:endParaRPr lang="en-US" sz="1400" dirty="0">
              <a:solidFill>
                <a:schemeClr val="dk1"/>
              </a:solidFill>
            </a:endParaRPr>
          </a:p>
          <a:p>
            <a:pPr marL="0" lvl="0" indent="0" algn="just" rtl="0">
              <a:spcBef>
                <a:spcPts val="0"/>
              </a:spcBef>
              <a:spcAft>
                <a:spcPts val="0"/>
              </a:spcAft>
            </a:pPr>
            <a:r>
              <a:rPr lang="en-US" sz="1400" dirty="0">
                <a:solidFill>
                  <a:schemeClr val="dk1"/>
                </a:solidFill>
              </a:rPr>
              <a:t>8. Continuous Improvement:</a:t>
            </a:r>
          </a:p>
          <a:p>
            <a:pPr marL="0" lvl="0" indent="0" algn="just" rtl="0">
              <a:spcBef>
                <a:spcPts val="0"/>
              </a:spcBef>
              <a:spcAft>
                <a:spcPts val="0"/>
              </a:spcAft>
            </a:pPr>
            <a:r>
              <a:rPr lang="en-US" sz="1400" dirty="0">
                <a:solidFill>
                  <a:schemeClr val="dk1"/>
                </a:solidFill>
              </a:rPr>
              <a:t>   - Keep improving to fight air pollution effectively.</a:t>
            </a:r>
          </a:p>
        </p:txBody>
      </p:sp>
    </p:spTree>
    <p:extLst>
      <p:ext uri="{BB962C8B-B14F-4D97-AF65-F5344CB8AC3E}">
        <p14:creationId xmlns:p14="http://schemas.microsoft.com/office/powerpoint/2010/main" val="384294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27" name="Google Shape;127;p23"/>
          <p:cNvSpPr txBox="1">
            <a:spLocks noGrp="1"/>
          </p:cNvSpPr>
          <p:nvPr>
            <p:ph type="subTitle" idx="1"/>
          </p:nvPr>
        </p:nvSpPr>
        <p:spPr>
          <a:xfrm>
            <a:off x="0" y="1155000"/>
            <a:ext cx="9144000" cy="3988500"/>
          </a:xfrm>
          <a:prstGeom prst="rect">
            <a:avLst/>
          </a:prstGeom>
        </p:spPr>
        <p:txBody>
          <a:bodyPr spcFirstLastPara="1" wrap="square" lIns="91425" tIns="91425" rIns="91425" bIns="91425" anchor="t" anchorCtr="0">
            <a:normAutofit/>
          </a:bodyPr>
          <a:lstStyle/>
          <a:p>
            <a:pPr marL="12700" lvl="0" indent="0" algn="l" rtl="0">
              <a:lnSpc>
                <a:spcPct val="115000"/>
              </a:lnSpc>
              <a:spcBef>
                <a:spcPts val="0"/>
              </a:spcBef>
              <a:spcAft>
                <a:spcPts val="0"/>
              </a:spcAft>
              <a:buNone/>
            </a:pPr>
            <a:r>
              <a:rPr lang="en" sz="1700" dirty="0">
                <a:solidFill>
                  <a:schemeClr val="dk1"/>
                </a:solidFill>
              </a:rPr>
              <a:t>❖Flowchart</a:t>
            </a:r>
            <a:endParaRPr sz="1700" dirty="0">
              <a:solidFill>
                <a:schemeClr val="dk1"/>
              </a:solidFill>
            </a:endParaRPr>
          </a:p>
          <a:p>
            <a:pPr marL="12700" lvl="0" indent="0" algn="l" rtl="0">
              <a:lnSpc>
                <a:spcPct val="115000"/>
              </a:lnSpc>
              <a:spcBef>
                <a:spcPts val="0"/>
              </a:spcBef>
              <a:spcAft>
                <a:spcPts val="0"/>
              </a:spcAft>
              <a:buNone/>
            </a:pPr>
            <a:endParaRPr sz="1700" dirty="0">
              <a:solidFill>
                <a:schemeClr val="dk1"/>
              </a:solidFill>
            </a:endParaRPr>
          </a:p>
          <a:p>
            <a:pPr marL="0" lvl="0" indent="0" algn="l" rtl="0">
              <a:spcBef>
                <a:spcPts val="0"/>
              </a:spcBef>
              <a:spcAft>
                <a:spcPts val="0"/>
              </a:spcAft>
              <a:buNone/>
            </a:pPr>
            <a:endParaRPr sz="1400" dirty="0">
              <a:solidFill>
                <a:schemeClr val="dk1"/>
              </a:solidFill>
            </a:endParaRPr>
          </a:p>
        </p:txBody>
      </p:sp>
      <p:pic>
        <p:nvPicPr>
          <p:cNvPr id="128" name="Google Shape;128;p23"/>
          <p:cNvPicPr preferRelativeResize="0"/>
          <p:nvPr/>
        </p:nvPicPr>
        <p:blipFill>
          <a:blip r:embed="rId3">
            <a:alphaModFix/>
          </a:blip>
          <a:stretch>
            <a:fillRect/>
          </a:stretch>
        </p:blipFill>
        <p:spPr>
          <a:xfrm>
            <a:off x="0" y="0"/>
            <a:ext cx="1063200" cy="1063200"/>
          </a:xfrm>
          <a:prstGeom prst="rect">
            <a:avLst/>
          </a:prstGeom>
          <a:noFill/>
          <a:ln>
            <a:noFill/>
          </a:ln>
        </p:spPr>
      </p:pic>
      <p:sp>
        <p:nvSpPr>
          <p:cNvPr id="27" name="TextBox 26">
            <a:extLst>
              <a:ext uri="{FF2B5EF4-FFF2-40B4-BE49-F238E27FC236}">
                <a16:creationId xmlns:a16="http://schemas.microsoft.com/office/drawing/2014/main" id="{A2B4CBF8-08B9-6973-ECA1-8831786AA94A}"/>
              </a:ext>
            </a:extLst>
          </p:cNvPr>
          <p:cNvSpPr txBox="1"/>
          <p:nvPr/>
        </p:nvSpPr>
        <p:spPr>
          <a:xfrm>
            <a:off x="2632234" y="3831605"/>
            <a:ext cx="293670" cy="307777"/>
          </a:xfrm>
          <a:prstGeom prst="rect">
            <a:avLst/>
          </a:prstGeom>
          <a:noFill/>
        </p:spPr>
        <p:txBody>
          <a:bodyPr wrap="none" rtlCol="0">
            <a:spAutoFit/>
          </a:bodyPr>
          <a:lstStyle/>
          <a:p>
            <a:r>
              <a:rPr lang="en-IN" dirty="0"/>
              <a:t>T</a:t>
            </a:r>
          </a:p>
        </p:txBody>
      </p:sp>
      <p:sp>
        <p:nvSpPr>
          <p:cNvPr id="28" name="TextBox 27">
            <a:extLst>
              <a:ext uri="{FF2B5EF4-FFF2-40B4-BE49-F238E27FC236}">
                <a16:creationId xmlns:a16="http://schemas.microsoft.com/office/drawing/2014/main" id="{AA9A94D0-F28F-078D-5024-E806C93BC538}"/>
              </a:ext>
            </a:extLst>
          </p:cNvPr>
          <p:cNvSpPr txBox="1"/>
          <p:nvPr/>
        </p:nvSpPr>
        <p:spPr>
          <a:xfrm>
            <a:off x="3811223" y="3495620"/>
            <a:ext cx="293670" cy="307777"/>
          </a:xfrm>
          <a:prstGeom prst="rect">
            <a:avLst/>
          </a:prstGeom>
          <a:noFill/>
        </p:spPr>
        <p:txBody>
          <a:bodyPr wrap="none" rtlCol="0">
            <a:spAutoFit/>
          </a:bodyPr>
          <a:lstStyle/>
          <a:p>
            <a:r>
              <a:rPr lang="en-IN" dirty="0"/>
              <a:t>F</a:t>
            </a:r>
          </a:p>
        </p:txBody>
      </p:sp>
      <p:sp>
        <p:nvSpPr>
          <p:cNvPr id="37" name="Flowchart: Data 36">
            <a:extLst>
              <a:ext uri="{FF2B5EF4-FFF2-40B4-BE49-F238E27FC236}">
                <a16:creationId xmlns:a16="http://schemas.microsoft.com/office/drawing/2014/main" id="{EFDC9C45-7D34-1E71-89DC-4428FDCC61E9}"/>
              </a:ext>
            </a:extLst>
          </p:cNvPr>
          <p:cNvSpPr/>
          <p:nvPr/>
        </p:nvSpPr>
        <p:spPr>
          <a:xfrm>
            <a:off x="1812860" y="2757541"/>
            <a:ext cx="2007686" cy="532912"/>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Display Data</a:t>
            </a:r>
          </a:p>
        </p:txBody>
      </p:sp>
      <p:sp>
        <p:nvSpPr>
          <p:cNvPr id="42" name="TextBox 41">
            <a:extLst>
              <a:ext uri="{FF2B5EF4-FFF2-40B4-BE49-F238E27FC236}">
                <a16:creationId xmlns:a16="http://schemas.microsoft.com/office/drawing/2014/main" id="{B66ECC74-2D73-6B1D-6A22-94C771CEA485}"/>
              </a:ext>
            </a:extLst>
          </p:cNvPr>
          <p:cNvSpPr txBox="1"/>
          <p:nvPr/>
        </p:nvSpPr>
        <p:spPr>
          <a:xfrm>
            <a:off x="2925904" y="4168357"/>
            <a:ext cx="293670" cy="307777"/>
          </a:xfrm>
          <a:prstGeom prst="rect">
            <a:avLst/>
          </a:prstGeom>
          <a:noFill/>
        </p:spPr>
        <p:txBody>
          <a:bodyPr wrap="none" rtlCol="0">
            <a:spAutoFit/>
          </a:bodyPr>
          <a:lstStyle/>
          <a:p>
            <a:r>
              <a:rPr lang="en-IN" dirty="0"/>
              <a:t>T</a:t>
            </a:r>
          </a:p>
        </p:txBody>
      </p:sp>
      <p:cxnSp>
        <p:nvCxnSpPr>
          <p:cNvPr id="49" name="Straight Arrow Connector 48">
            <a:extLst>
              <a:ext uri="{FF2B5EF4-FFF2-40B4-BE49-F238E27FC236}">
                <a16:creationId xmlns:a16="http://schemas.microsoft.com/office/drawing/2014/main" id="{985019B4-4378-B193-9451-2BE63E99506C}"/>
              </a:ext>
            </a:extLst>
          </p:cNvPr>
          <p:cNvCxnSpPr>
            <a:stCxn id="3" idx="3"/>
          </p:cNvCxnSpPr>
          <p:nvPr/>
        </p:nvCxnSpPr>
        <p:spPr>
          <a:xfrm flipH="1">
            <a:off x="2789204" y="2567490"/>
            <a:ext cx="1104" cy="186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5336C4A7-63BB-124D-9E9E-597AEE425484}"/>
              </a:ext>
            </a:extLst>
          </p:cNvPr>
          <p:cNvGrpSpPr/>
          <p:nvPr/>
        </p:nvGrpSpPr>
        <p:grpSpPr>
          <a:xfrm>
            <a:off x="1452370" y="1329316"/>
            <a:ext cx="6239259" cy="3639868"/>
            <a:chOff x="1295400" y="1350818"/>
            <a:chExt cx="6239259" cy="3639868"/>
          </a:xfrm>
        </p:grpSpPr>
        <p:grpSp>
          <p:nvGrpSpPr>
            <p:cNvPr id="33" name="Group 32">
              <a:extLst>
                <a:ext uri="{FF2B5EF4-FFF2-40B4-BE49-F238E27FC236}">
                  <a16:creationId xmlns:a16="http://schemas.microsoft.com/office/drawing/2014/main" id="{D7238533-BE5D-B0A6-3646-B9E846B0993A}"/>
                </a:ext>
              </a:extLst>
            </p:cNvPr>
            <p:cNvGrpSpPr/>
            <p:nvPr/>
          </p:nvGrpSpPr>
          <p:grpSpPr>
            <a:xfrm>
              <a:off x="1295400" y="1350818"/>
              <a:ext cx="4523509" cy="3639868"/>
              <a:chOff x="2611582" y="1302327"/>
              <a:chExt cx="5041325" cy="4184473"/>
            </a:xfrm>
          </p:grpSpPr>
          <p:sp>
            <p:nvSpPr>
              <p:cNvPr id="2" name="Oval 1">
                <a:extLst>
                  <a:ext uri="{FF2B5EF4-FFF2-40B4-BE49-F238E27FC236}">
                    <a16:creationId xmlns:a16="http://schemas.microsoft.com/office/drawing/2014/main" id="{DFE12838-0FE9-7D44-1ED8-4AA2559BD09B}"/>
                  </a:ext>
                </a:extLst>
              </p:cNvPr>
              <p:cNvSpPr/>
              <p:nvPr/>
            </p:nvSpPr>
            <p:spPr>
              <a:xfrm>
                <a:off x="3723409" y="1302327"/>
                <a:ext cx="1215736" cy="5611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3" name="Flowchart: Data 2">
                <a:extLst>
                  <a:ext uri="{FF2B5EF4-FFF2-40B4-BE49-F238E27FC236}">
                    <a16:creationId xmlns:a16="http://schemas.microsoft.com/office/drawing/2014/main" id="{0D5E0F33-ED25-790A-0411-9B5EEE5BE15B}"/>
                  </a:ext>
                </a:extLst>
              </p:cNvPr>
              <p:cNvSpPr/>
              <p:nvPr/>
            </p:nvSpPr>
            <p:spPr>
              <a:xfrm>
                <a:off x="3188277" y="2113112"/>
                <a:ext cx="2286000" cy="61264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pollution data</a:t>
                </a:r>
              </a:p>
            </p:txBody>
          </p:sp>
          <p:sp>
            <p:nvSpPr>
              <p:cNvPr id="4" name="Flowchart: Decision 3">
                <a:extLst>
                  <a:ext uri="{FF2B5EF4-FFF2-40B4-BE49-F238E27FC236}">
                    <a16:creationId xmlns:a16="http://schemas.microsoft.com/office/drawing/2014/main" id="{0E4F080B-B728-1E83-C66A-4DBB12898092}"/>
                  </a:ext>
                </a:extLst>
              </p:cNvPr>
              <p:cNvSpPr/>
              <p:nvPr/>
            </p:nvSpPr>
            <p:spPr>
              <a:xfrm>
                <a:off x="2904269" y="3735017"/>
                <a:ext cx="2500746" cy="90532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If condition satisfies</a:t>
                </a:r>
              </a:p>
            </p:txBody>
          </p:sp>
          <p:sp>
            <p:nvSpPr>
              <p:cNvPr id="5" name="Flowchart: Data 4">
                <a:extLst>
                  <a:ext uri="{FF2B5EF4-FFF2-40B4-BE49-F238E27FC236}">
                    <a16:creationId xmlns:a16="http://schemas.microsoft.com/office/drawing/2014/main" id="{6AD9F0F7-D67B-1A93-27DE-F17DB86F5AB7}"/>
                  </a:ext>
                </a:extLst>
              </p:cNvPr>
              <p:cNvSpPr/>
              <p:nvPr/>
            </p:nvSpPr>
            <p:spPr>
              <a:xfrm>
                <a:off x="3035974" y="4874152"/>
                <a:ext cx="2237510" cy="61264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Turn on pump</a:t>
                </a:r>
              </a:p>
            </p:txBody>
          </p:sp>
          <p:cxnSp>
            <p:nvCxnSpPr>
              <p:cNvPr id="7" name="Straight Arrow Connector 6">
                <a:extLst>
                  <a:ext uri="{FF2B5EF4-FFF2-40B4-BE49-F238E27FC236}">
                    <a16:creationId xmlns:a16="http://schemas.microsoft.com/office/drawing/2014/main" id="{E788C91E-4CD5-E80E-94C3-96B4D1CCB8A2}"/>
                  </a:ext>
                </a:extLst>
              </p:cNvPr>
              <p:cNvCxnSpPr>
                <a:stCxn id="2" idx="4"/>
                <a:endCxn id="3" idx="1"/>
              </p:cNvCxnSpPr>
              <p:nvPr/>
            </p:nvCxnSpPr>
            <p:spPr>
              <a:xfrm>
                <a:off x="4331277" y="1863436"/>
                <a:ext cx="0" cy="249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0FB9B81-5BA8-EC4B-CE99-54BB30F52778}"/>
                  </a:ext>
                </a:extLst>
              </p:cNvPr>
              <p:cNvCxnSpPr>
                <a:cxnSpLocks/>
                <a:endCxn id="4" idx="0"/>
              </p:cNvCxnSpPr>
              <p:nvPr/>
            </p:nvCxnSpPr>
            <p:spPr>
              <a:xfrm>
                <a:off x="4154642" y="3485341"/>
                <a:ext cx="0" cy="249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462C230-C159-55BB-1803-0EBB1271864B}"/>
                  </a:ext>
                </a:extLst>
              </p:cNvPr>
              <p:cNvCxnSpPr>
                <a:stCxn id="4" idx="2"/>
                <a:endCxn id="5" idx="1"/>
              </p:cNvCxnSpPr>
              <p:nvPr/>
            </p:nvCxnSpPr>
            <p:spPr>
              <a:xfrm>
                <a:off x="4154642" y="4640341"/>
                <a:ext cx="87" cy="233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BFA17E0-58E3-092E-3E2F-E32A2FE5BD5E}"/>
                  </a:ext>
                </a:extLst>
              </p:cNvPr>
              <p:cNvCxnSpPr>
                <a:cxnSpLocks/>
              </p:cNvCxnSpPr>
              <p:nvPr/>
            </p:nvCxnSpPr>
            <p:spPr>
              <a:xfrm flipH="1">
                <a:off x="2611582" y="5180476"/>
                <a:ext cx="6009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78020B-A043-E0D9-12EF-18716F83B91E}"/>
                  </a:ext>
                </a:extLst>
              </p:cNvPr>
              <p:cNvCxnSpPr>
                <a:cxnSpLocks/>
              </p:cNvCxnSpPr>
              <p:nvPr/>
            </p:nvCxnSpPr>
            <p:spPr>
              <a:xfrm flipV="1">
                <a:off x="2611582" y="2493818"/>
                <a:ext cx="27709" cy="268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37E1981-3139-4105-DEE6-58EC4E085AD4}"/>
                  </a:ext>
                </a:extLst>
              </p:cNvPr>
              <p:cNvCxnSpPr/>
              <p:nvPr/>
            </p:nvCxnSpPr>
            <p:spPr>
              <a:xfrm>
                <a:off x="2611582" y="2493818"/>
                <a:ext cx="7412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lowchart: Data 19">
                <a:extLst>
                  <a:ext uri="{FF2B5EF4-FFF2-40B4-BE49-F238E27FC236}">
                    <a16:creationId xmlns:a16="http://schemas.microsoft.com/office/drawing/2014/main" id="{7E52FAD1-B4B2-2256-76BE-B8E98F87D2B8}"/>
                  </a:ext>
                </a:extLst>
              </p:cNvPr>
              <p:cNvSpPr/>
              <p:nvPr/>
            </p:nvSpPr>
            <p:spPr>
              <a:xfrm>
                <a:off x="5415397" y="4056053"/>
                <a:ext cx="2237510" cy="61264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Turn off pump</a:t>
                </a:r>
              </a:p>
            </p:txBody>
          </p:sp>
          <p:cxnSp>
            <p:nvCxnSpPr>
              <p:cNvPr id="24" name="Straight Connector 23">
                <a:extLst>
                  <a:ext uri="{FF2B5EF4-FFF2-40B4-BE49-F238E27FC236}">
                    <a16:creationId xmlns:a16="http://schemas.microsoft.com/office/drawing/2014/main" id="{6C7D651B-7978-9BF4-6FEF-D941E5643D76}"/>
                  </a:ext>
                </a:extLst>
              </p:cNvPr>
              <p:cNvCxnSpPr>
                <a:stCxn id="4" idx="3"/>
              </p:cNvCxnSpPr>
              <p:nvPr/>
            </p:nvCxnSpPr>
            <p:spPr>
              <a:xfrm>
                <a:off x="5405015" y="4187680"/>
                <a:ext cx="54898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7B32E9B-282C-5CCE-99B7-6867982EDD7B}"/>
                  </a:ext>
                </a:extLst>
              </p:cNvPr>
              <p:cNvCxnSpPr>
                <a:stCxn id="20" idx="1"/>
              </p:cNvCxnSpPr>
              <p:nvPr/>
            </p:nvCxnSpPr>
            <p:spPr>
              <a:xfrm flipV="1">
                <a:off x="6534152" y="2571750"/>
                <a:ext cx="0" cy="1484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B4F2237-B742-CC81-B22D-A688196798CF}"/>
                  </a:ext>
                </a:extLst>
              </p:cNvPr>
              <p:cNvCxnSpPr/>
              <p:nvPr/>
            </p:nvCxnSpPr>
            <p:spPr>
              <a:xfrm flipH="1">
                <a:off x="5126182" y="2571750"/>
                <a:ext cx="1407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DC5E3551-9248-94A3-F19B-727B81405C13}"/>
                </a:ext>
              </a:extLst>
            </p:cNvPr>
            <p:cNvSpPr/>
            <p:nvPr/>
          </p:nvSpPr>
          <p:spPr>
            <a:xfrm>
              <a:off x="6248400" y="4429577"/>
              <a:ext cx="1286259" cy="5611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cxnSp>
          <p:nvCxnSpPr>
            <p:cNvPr id="51" name="Straight Arrow Connector 50">
              <a:extLst>
                <a:ext uri="{FF2B5EF4-FFF2-40B4-BE49-F238E27FC236}">
                  <a16:creationId xmlns:a16="http://schemas.microsoft.com/office/drawing/2014/main" id="{73224BAB-7E5E-CACF-2558-5BEE48D19A22}"/>
                </a:ext>
              </a:extLst>
            </p:cNvPr>
            <p:cNvCxnSpPr>
              <a:cxnSpLocks/>
            </p:cNvCxnSpPr>
            <p:nvPr/>
          </p:nvCxnSpPr>
          <p:spPr>
            <a:xfrm flipV="1">
              <a:off x="3441766" y="4724230"/>
              <a:ext cx="2806634" cy="36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35" name="Google Shape;135;p24"/>
          <p:cNvSpPr txBox="1">
            <a:spLocks noGrp="1"/>
          </p:cNvSpPr>
          <p:nvPr>
            <p:ph type="subTitle" idx="1"/>
          </p:nvPr>
        </p:nvSpPr>
        <p:spPr>
          <a:xfrm>
            <a:off x="-1" y="1155000"/>
            <a:ext cx="6830291" cy="3922500"/>
          </a:xfrm>
          <a:prstGeom prst="rect">
            <a:avLst/>
          </a:prstGeom>
        </p:spPr>
        <p:txBody>
          <a:bodyPr spcFirstLastPara="1" wrap="square" lIns="91425" tIns="91425" rIns="91425" bIns="91425" anchor="t" anchorCtr="0">
            <a:normAutofit fontScale="62500" lnSpcReduction="20000"/>
          </a:bodyPr>
          <a:lstStyle/>
          <a:p>
            <a:pPr marL="12700" lvl="0" indent="0" algn="just" rtl="0">
              <a:lnSpc>
                <a:spcPct val="115000"/>
              </a:lnSpc>
              <a:spcBef>
                <a:spcPts val="0"/>
              </a:spcBef>
              <a:spcAft>
                <a:spcPts val="0"/>
              </a:spcAft>
              <a:buNone/>
            </a:pPr>
            <a:r>
              <a:rPr lang="en" sz="1800" dirty="0">
                <a:solidFill>
                  <a:schemeClr val="dk1"/>
                </a:solidFill>
              </a:rPr>
              <a:t>❖</a:t>
            </a:r>
            <a:r>
              <a:rPr lang="en" sz="2200" dirty="0">
                <a:solidFill>
                  <a:schemeClr val="dk1"/>
                </a:solidFill>
              </a:rPr>
              <a:t>Sensor Working Principle</a:t>
            </a:r>
            <a:endParaRPr sz="2200" dirty="0">
              <a:solidFill>
                <a:schemeClr val="dk1"/>
              </a:solidFill>
            </a:endParaRPr>
          </a:p>
          <a:p>
            <a:pPr marL="12700" lvl="0" indent="0" algn="just" rtl="0">
              <a:lnSpc>
                <a:spcPct val="115000"/>
              </a:lnSpc>
              <a:spcBef>
                <a:spcPts val="0"/>
              </a:spcBef>
              <a:spcAft>
                <a:spcPts val="0"/>
              </a:spcAft>
              <a:buNone/>
            </a:pPr>
            <a:r>
              <a:rPr lang="en" sz="2200" b="1" dirty="0">
                <a:solidFill>
                  <a:schemeClr val="dk1"/>
                </a:solidFill>
              </a:rPr>
              <a:t>Name : PMS7003</a:t>
            </a:r>
          </a:p>
          <a:p>
            <a:pPr marL="12700" lvl="0" indent="0" algn="just" rtl="0">
              <a:lnSpc>
                <a:spcPct val="115000"/>
              </a:lnSpc>
              <a:spcBef>
                <a:spcPts val="0"/>
              </a:spcBef>
              <a:spcAft>
                <a:spcPts val="0"/>
              </a:spcAft>
              <a:buNone/>
            </a:pPr>
            <a:endParaRPr sz="1800" b="1" dirty="0">
              <a:solidFill>
                <a:schemeClr val="dk1"/>
              </a:solidFill>
            </a:endParaRPr>
          </a:p>
          <a:p>
            <a:pPr marL="12700" lvl="0" indent="0" algn="just" rtl="0">
              <a:lnSpc>
                <a:spcPct val="115000"/>
              </a:lnSpc>
              <a:spcBef>
                <a:spcPts val="0"/>
              </a:spcBef>
              <a:spcAft>
                <a:spcPts val="0"/>
              </a:spcAft>
              <a:buNone/>
            </a:pPr>
            <a:r>
              <a:rPr lang="en" sz="1900" dirty="0">
                <a:solidFill>
                  <a:schemeClr val="dk1"/>
                </a:solidFill>
              </a:rPr>
              <a:t>Working principle:</a:t>
            </a:r>
          </a:p>
          <a:p>
            <a:pPr marL="12700" lvl="0" indent="0" algn="just" rtl="0">
              <a:lnSpc>
                <a:spcPct val="115000"/>
              </a:lnSpc>
              <a:spcBef>
                <a:spcPts val="0"/>
              </a:spcBef>
              <a:spcAft>
                <a:spcPts val="0"/>
              </a:spcAft>
              <a:buNone/>
            </a:pPr>
            <a:r>
              <a:rPr lang="en-US" sz="1900" dirty="0">
                <a:solidFill>
                  <a:schemeClr val="dk1"/>
                </a:solidFill>
              </a:rPr>
              <a:t>The PMS7003 operates on the principle of laser scattering. It emits a laser beam into the air sample and detects the light scattered by particles passing through the beam. By analyzing the scattered light, it determines the concentration of particles in different size ranges, such as PM1.0, PM2.5, and PM10.</a:t>
            </a:r>
          </a:p>
          <a:p>
            <a:pPr marL="12700" lvl="0" indent="0" algn="just" rtl="0">
              <a:lnSpc>
                <a:spcPct val="115000"/>
              </a:lnSpc>
              <a:spcBef>
                <a:spcPts val="0"/>
              </a:spcBef>
              <a:spcAft>
                <a:spcPts val="0"/>
              </a:spcAft>
              <a:buNone/>
            </a:pPr>
            <a:endParaRPr sz="1900" dirty="0">
              <a:solidFill>
                <a:schemeClr val="dk1"/>
              </a:solidFill>
            </a:endParaRPr>
          </a:p>
          <a:p>
            <a:pPr marL="12700" lvl="0" indent="0" algn="just" rtl="0">
              <a:lnSpc>
                <a:spcPct val="115000"/>
              </a:lnSpc>
              <a:spcBef>
                <a:spcPts val="0"/>
              </a:spcBef>
              <a:spcAft>
                <a:spcPts val="0"/>
              </a:spcAft>
              <a:buNone/>
            </a:pPr>
            <a:r>
              <a:rPr lang="en" sz="1900" dirty="0">
                <a:solidFill>
                  <a:schemeClr val="dk1"/>
                </a:solidFill>
              </a:rPr>
              <a:t>Specifications:</a:t>
            </a:r>
            <a:endParaRPr lang="en-US" sz="1900" dirty="0">
              <a:solidFill>
                <a:schemeClr val="dk1"/>
              </a:solidFill>
            </a:endParaRPr>
          </a:p>
          <a:p>
            <a:pPr marL="12700" lvl="0" indent="0" algn="just" rtl="0">
              <a:lnSpc>
                <a:spcPct val="115000"/>
              </a:lnSpc>
              <a:spcBef>
                <a:spcPts val="0"/>
              </a:spcBef>
              <a:spcAft>
                <a:spcPts val="0"/>
              </a:spcAft>
              <a:buNone/>
            </a:pPr>
            <a:r>
              <a:rPr lang="en-US" sz="1900" dirty="0">
                <a:solidFill>
                  <a:schemeClr val="dk1"/>
                </a:solidFill>
              </a:rPr>
              <a:t>- Particle Size Range: PM1.0, PM2.5, PM10</a:t>
            </a:r>
          </a:p>
          <a:p>
            <a:pPr marL="12700" lvl="0" indent="0" algn="just" rtl="0">
              <a:lnSpc>
                <a:spcPct val="115000"/>
              </a:lnSpc>
              <a:spcBef>
                <a:spcPts val="0"/>
              </a:spcBef>
              <a:spcAft>
                <a:spcPts val="0"/>
              </a:spcAft>
              <a:buNone/>
            </a:pPr>
            <a:r>
              <a:rPr lang="en-US" sz="1900" dirty="0">
                <a:solidFill>
                  <a:schemeClr val="dk1"/>
                </a:solidFill>
              </a:rPr>
              <a:t>- Measurement Principle: Laser scattering</a:t>
            </a:r>
          </a:p>
          <a:p>
            <a:pPr marL="12700" lvl="0" indent="0" algn="just" rtl="0">
              <a:lnSpc>
                <a:spcPct val="115000"/>
              </a:lnSpc>
              <a:spcBef>
                <a:spcPts val="0"/>
              </a:spcBef>
              <a:spcAft>
                <a:spcPts val="0"/>
              </a:spcAft>
              <a:buNone/>
            </a:pPr>
            <a:r>
              <a:rPr lang="en-US" sz="1900" dirty="0">
                <a:solidFill>
                  <a:schemeClr val="dk1"/>
                </a:solidFill>
              </a:rPr>
              <a:t>- Measurement Range: 0.3 to 1.0 </a:t>
            </a:r>
            <a:r>
              <a:rPr lang="en-US" sz="1900" dirty="0" err="1">
                <a:solidFill>
                  <a:schemeClr val="dk1"/>
                </a:solidFill>
              </a:rPr>
              <a:t>μm</a:t>
            </a:r>
            <a:r>
              <a:rPr lang="en-US" sz="1900" dirty="0">
                <a:solidFill>
                  <a:schemeClr val="dk1"/>
                </a:solidFill>
              </a:rPr>
              <a:t> for PM1.0, 0.3 to 2.5 </a:t>
            </a:r>
            <a:r>
              <a:rPr lang="en-US" sz="1900" dirty="0" err="1">
                <a:solidFill>
                  <a:schemeClr val="dk1"/>
                </a:solidFill>
              </a:rPr>
              <a:t>μm</a:t>
            </a:r>
            <a:r>
              <a:rPr lang="en-US" sz="1900" dirty="0">
                <a:solidFill>
                  <a:schemeClr val="dk1"/>
                </a:solidFill>
              </a:rPr>
              <a:t> for PM2.5, 0.3 to 10 </a:t>
            </a:r>
            <a:r>
              <a:rPr lang="en-US" sz="1900" dirty="0" err="1">
                <a:solidFill>
                  <a:schemeClr val="dk1"/>
                </a:solidFill>
              </a:rPr>
              <a:t>μm</a:t>
            </a:r>
            <a:r>
              <a:rPr lang="en-US" sz="1900" dirty="0">
                <a:solidFill>
                  <a:schemeClr val="dk1"/>
                </a:solidFill>
              </a:rPr>
              <a:t> for PM10</a:t>
            </a:r>
          </a:p>
          <a:p>
            <a:pPr marL="12700" lvl="0" indent="0" algn="just" rtl="0">
              <a:lnSpc>
                <a:spcPct val="115000"/>
              </a:lnSpc>
              <a:spcBef>
                <a:spcPts val="0"/>
              </a:spcBef>
              <a:spcAft>
                <a:spcPts val="0"/>
              </a:spcAft>
              <a:buNone/>
            </a:pPr>
            <a:r>
              <a:rPr lang="en-US" sz="1900" dirty="0">
                <a:solidFill>
                  <a:schemeClr val="dk1"/>
                </a:solidFill>
              </a:rPr>
              <a:t>- Measurement Accuracy: ±10% </a:t>
            </a:r>
          </a:p>
          <a:p>
            <a:pPr marL="12700" lvl="0" indent="0" algn="just" rtl="0">
              <a:lnSpc>
                <a:spcPct val="115000"/>
              </a:lnSpc>
              <a:spcBef>
                <a:spcPts val="0"/>
              </a:spcBef>
              <a:spcAft>
                <a:spcPts val="0"/>
              </a:spcAft>
              <a:buNone/>
            </a:pPr>
            <a:r>
              <a:rPr lang="en-US" sz="1900" dirty="0">
                <a:solidFill>
                  <a:schemeClr val="dk1"/>
                </a:solidFill>
              </a:rPr>
              <a:t>- Output: Concentration in µg/m³ (micrograms per cubic meter)</a:t>
            </a:r>
          </a:p>
          <a:p>
            <a:pPr marL="12700" lvl="0" indent="0" algn="just" rtl="0">
              <a:lnSpc>
                <a:spcPct val="115000"/>
              </a:lnSpc>
              <a:spcBef>
                <a:spcPts val="0"/>
              </a:spcBef>
              <a:spcAft>
                <a:spcPts val="0"/>
              </a:spcAft>
              <a:buNone/>
            </a:pPr>
            <a:r>
              <a:rPr lang="en-US" sz="1900" dirty="0">
                <a:solidFill>
                  <a:schemeClr val="dk1"/>
                </a:solidFill>
              </a:rPr>
              <a:t>- Response Time: ≤10 seconds</a:t>
            </a:r>
          </a:p>
          <a:p>
            <a:pPr marL="12700" lvl="0" indent="0" algn="just" rtl="0">
              <a:lnSpc>
                <a:spcPct val="115000"/>
              </a:lnSpc>
              <a:spcBef>
                <a:spcPts val="0"/>
              </a:spcBef>
              <a:spcAft>
                <a:spcPts val="0"/>
              </a:spcAft>
              <a:buNone/>
            </a:pPr>
            <a:r>
              <a:rPr lang="en-US" sz="1900" dirty="0">
                <a:solidFill>
                  <a:schemeClr val="dk1"/>
                </a:solidFill>
              </a:rPr>
              <a:t>- Operating Voltage: 5V DC</a:t>
            </a:r>
          </a:p>
          <a:p>
            <a:pPr marL="12700" lvl="0" indent="0" algn="just" rtl="0">
              <a:lnSpc>
                <a:spcPct val="115000"/>
              </a:lnSpc>
              <a:spcBef>
                <a:spcPts val="0"/>
              </a:spcBef>
              <a:spcAft>
                <a:spcPts val="0"/>
              </a:spcAft>
              <a:buNone/>
            </a:pPr>
            <a:r>
              <a:rPr lang="en-US" sz="1900" dirty="0">
                <a:solidFill>
                  <a:schemeClr val="dk1"/>
                </a:solidFill>
              </a:rPr>
              <a:t>- Operating Temperature Range: -10°C to 60°C</a:t>
            </a:r>
          </a:p>
          <a:p>
            <a:pPr marL="12700" lvl="0" indent="0" algn="just" rtl="0">
              <a:lnSpc>
                <a:spcPct val="115000"/>
              </a:lnSpc>
              <a:spcBef>
                <a:spcPts val="0"/>
              </a:spcBef>
              <a:spcAft>
                <a:spcPts val="0"/>
              </a:spcAft>
              <a:buNone/>
            </a:pPr>
            <a:r>
              <a:rPr lang="en-US" sz="1900" dirty="0">
                <a:solidFill>
                  <a:schemeClr val="dk1"/>
                </a:solidFill>
              </a:rPr>
              <a:t>- Operating Humidity Range: 0% to 99% RH (non-condensing)</a:t>
            </a:r>
          </a:p>
          <a:p>
            <a:pPr marL="12700" lvl="0" indent="0" algn="just" rtl="0">
              <a:lnSpc>
                <a:spcPct val="115000"/>
              </a:lnSpc>
              <a:spcBef>
                <a:spcPts val="0"/>
              </a:spcBef>
              <a:spcAft>
                <a:spcPts val="0"/>
              </a:spcAft>
              <a:buNone/>
            </a:pPr>
            <a:r>
              <a:rPr lang="en-US" sz="1900" dirty="0">
                <a:solidFill>
                  <a:schemeClr val="dk1"/>
                </a:solidFill>
              </a:rPr>
              <a:t>- Dimensions: 50mm x 46mm x 17mm</a:t>
            </a:r>
          </a:p>
          <a:p>
            <a:pPr marL="12700" lvl="0" indent="0" algn="just" rtl="0">
              <a:lnSpc>
                <a:spcPct val="115000"/>
              </a:lnSpc>
              <a:spcBef>
                <a:spcPts val="0"/>
              </a:spcBef>
              <a:spcAft>
                <a:spcPts val="0"/>
              </a:spcAft>
              <a:buNone/>
            </a:pPr>
            <a:r>
              <a:rPr lang="en-US" sz="1900" dirty="0">
                <a:solidFill>
                  <a:schemeClr val="dk1"/>
                </a:solidFill>
              </a:rPr>
              <a:t>- Weight: Approximately 25 grams</a:t>
            </a:r>
            <a:endParaRPr sz="1400" dirty="0">
              <a:solidFill>
                <a:schemeClr val="dk1"/>
              </a:solidFill>
            </a:endParaRPr>
          </a:p>
        </p:txBody>
      </p:sp>
      <p:pic>
        <p:nvPicPr>
          <p:cNvPr id="136" name="Google Shape;136;p24"/>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1026" name="Picture 2" descr="Measure air quality with Raspberry Pi, PMS7003 and Java • joshefin">
            <a:extLst>
              <a:ext uri="{FF2B5EF4-FFF2-40B4-BE49-F238E27FC236}">
                <a16:creationId xmlns:a16="http://schemas.microsoft.com/office/drawing/2014/main" id="{51B83E36-B077-472F-AEBC-E18E093D7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0291" y="1148007"/>
            <a:ext cx="2313709" cy="23137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5"/>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43" name="Google Shape;143;p25"/>
          <p:cNvSpPr txBox="1">
            <a:spLocks noGrp="1"/>
          </p:cNvSpPr>
          <p:nvPr>
            <p:ph type="subTitle" idx="1"/>
          </p:nvPr>
        </p:nvSpPr>
        <p:spPr>
          <a:xfrm>
            <a:off x="-1" y="1155000"/>
            <a:ext cx="6373092" cy="39225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None/>
            </a:pPr>
            <a:r>
              <a:rPr lang="en" sz="1000" dirty="0">
                <a:solidFill>
                  <a:schemeClr val="dk1"/>
                </a:solidFill>
              </a:rPr>
              <a:t>❖Sensor Working Principle</a:t>
            </a:r>
            <a:endParaRPr sz="1000" dirty="0">
              <a:solidFill>
                <a:schemeClr val="dk1"/>
              </a:solidFill>
            </a:endParaRPr>
          </a:p>
          <a:p>
            <a:pPr marL="12700" lvl="0" indent="0" algn="l" rtl="0">
              <a:lnSpc>
                <a:spcPct val="115000"/>
              </a:lnSpc>
              <a:spcBef>
                <a:spcPts val="0"/>
              </a:spcBef>
              <a:spcAft>
                <a:spcPts val="0"/>
              </a:spcAft>
              <a:buNone/>
            </a:pPr>
            <a:r>
              <a:rPr lang="en" sz="1000" b="1" dirty="0">
                <a:solidFill>
                  <a:schemeClr val="dk1"/>
                </a:solidFill>
              </a:rPr>
              <a:t>Name : MHZ19</a:t>
            </a:r>
            <a:endParaRPr lang="en" sz="1000" dirty="0">
              <a:solidFill>
                <a:schemeClr val="dk1"/>
              </a:solidFill>
            </a:endParaRPr>
          </a:p>
          <a:p>
            <a:pPr marL="12700" lvl="0" indent="0" algn="just" rtl="0">
              <a:lnSpc>
                <a:spcPct val="115000"/>
              </a:lnSpc>
              <a:spcBef>
                <a:spcPts val="0"/>
              </a:spcBef>
              <a:spcAft>
                <a:spcPts val="0"/>
              </a:spcAft>
              <a:buNone/>
            </a:pPr>
            <a:r>
              <a:rPr lang="en" sz="1000" dirty="0">
                <a:solidFill>
                  <a:schemeClr val="dk1"/>
                </a:solidFill>
              </a:rPr>
              <a:t>Working Principle:</a:t>
            </a:r>
          </a:p>
          <a:p>
            <a:pPr marL="12700" lvl="0" indent="0" algn="just" rtl="0">
              <a:lnSpc>
                <a:spcPct val="115000"/>
              </a:lnSpc>
              <a:spcBef>
                <a:spcPts val="0"/>
              </a:spcBef>
              <a:spcAft>
                <a:spcPts val="0"/>
              </a:spcAft>
              <a:buNone/>
            </a:pPr>
            <a:r>
              <a:rPr lang="en-US" sz="1000" dirty="0">
                <a:solidFill>
                  <a:schemeClr val="dk1"/>
                </a:solidFill>
              </a:rPr>
              <a:t>The MH-Z19 sensor operates based on the principle of NDIR spectroscopy. It contains an infrared light source, a gas sample chamber, and an infrared detector. When the infrared light passes through the gas sample chamber, it interacts with CO2 molecules, absorbing specific wavelengths of light. The amount of light absorbed is proportional to the concentration of CO2 in the sample. The infrared detector measures the intensity of light that passes through the chamber and calculates the CO2 concentration based on the absorption of infrared light by CO2 molecules.</a:t>
            </a:r>
          </a:p>
          <a:p>
            <a:pPr marL="12700" lvl="0" indent="0" algn="just" rtl="0">
              <a:lnSpc>
                <a:spcPct val="115000"/>
              </a:lnSpc>
              <a:spcBef>
                <a:spcPts val="0"/>
              </a:spcBef>
              <a:spcAft>
                <a:spcPts val="0"/>
              </a:spcAft>
              <a:buNone/>
            </a:pPr>
            <a:r>
              <a:rPr lang="en-US" sz="1000" dirty="0">
                <a:solidFill>
                  <a:schemeClr val="dk1"/>
                </a:solidFill>
              </a:rPr>
              <a:t>Specifications:</a:t>
            </a:r>
          </a:p>
          <a:p>
            <a:pPr marL="12700" lvl="0" indent="0" algn="just" rtl="0">
              <a:lnSpc>
                <a:spcPct val="115000"/>
              </a:lnSpc>
              <a:spcBef>
                <a:spcPts val="0"/>
              </a:spcBef>
              <a:spcAft>
                <a:spcPts val="0"/>
              </a:spcAft>
              <a:buNone/>
            </a:pPr>
            <a:r>
              <a:rPr lang="en-US" sz="1000" dirty="0">
                <a:solidFill>
                  <a:schemeClr val="dk1"/>
                </a:solidFill>
              </a:rPr>
              <a:t>- Measurement Range: 0 to 5000 ppm (parts per million)</a:t>
            </a:r>
          </a:p>
          <a:p>
            <a:pPr marL="12700" lvl="0" indent="0" algn="just" rtl="0">
              <a:lnSpc>
                <a:spcPct val="115000"/>
              </a:lnSpc>
              <a:spcBef>
                <a:spcPts val="0"/>
              </a:spcBef>
              <a:spcAft>
                <a:spcPts val="0"/>
              </a:spcAft>
              <a:buNone/>
            </a:pPr>
            <a:r>
              <a:rPr lang="en-US" sz="1000" dirty="0">
                <a:solidFill>
                  <a:schemeClr val="dk1"/>
                </a:solidFill>
              </a:rPr>
              <a:t>- Measurement Principle: Nondispersive infrared (NDIR) spectroscopy</a:t>
            </a:r>
          </a:p>
          <a:p>
            <a:pPr marL="12700" lvl="0" indent="0" algn="just" rtl="0">
              <a:lnSpc>
                <a:spcPct val="115000"/>
              </a:lnSpc>
              <a:spcBef>
                <a:spcPts val="0"/>
              </a:spcBef>
              <a:spcAft>
                <a:spcPts val="0"/>
              </a:spcAft>
              <a:buNone/>
            </a:pPr>
            <a:r>
              <a:rPr lang="en-US" sz="1000" dirty="0">
                <a:solidFill>
                  <a:schemeClr val="dk1"/>
                </a:solidFill>
              </a:rPr>
              <a:t>- Accuracy: ±50 ppm ±3% of reading</a:t>
            </a:r>
          </a:p>
          <a:p>
            <a:pPr marL="12700" lvl="0" indent="0" algn="just" rtl="0">
              <a:lnSpc>
                <a:spcPct val="115000"/>
              </a:lnSpc>
              <a:spcBef>
                <a:spcPts val="0"/>
              </a:spcBef>
              <a:spcAft>
                <a:spcPts val="0"/>
              </a:spcAft>
              <a:buNone/>
            </a:pPr>
            <a:r>
              <a:rPr lang="en-US" sz="1000" dirty="0">
                <a:solidFill>
                  <a:schemeClr val="dk1"/>
                </a:solidFill>
              </a:rPr>
              <a:t>- Resolution: 1 ppm</a:t>
            </a:r>
          </a:p>
          <a:p>
            <a:pPr marL="12700" lvl="0" indent="0" algn="just" rtl="0">
              <a:lnSpc>
                <a:spcPct val="115000"/>
              </a:lnSpc>
              <a:spcBef>
                <a:spcPts val="0"/>
              </a:spcBef>
              <a:spcAft>
                <a:spcPts val="0"/>
              </a:spcAft>
              <a:buNone/>
            </a:pPr>
            <a:r>
              <a:rPr lang="en-US" sz="1000" dirty="0">
                <a:solidFill>
                  <a:schemeClr val="dk1"/>
                </a:solidFill>
              </a:rPr>
              <a:t>- Response Time: &lt;60 seconds</a:t>
            </a:r>
          </a:p>
          <a:p>
            <a:pPr marL="12700" lvl="0" indent="0" algn="just" rtl="0">
              <a:lnSpc>
                <a:spcPct val="115000"/>
              </a:lnSpc>
              <a:spcBef>
                <a:spcPts val="0"/>
              </a:spcBef>
              <a:spcAft>
                <a:spcPts val="0"/>
              </a:spcAft>
              <a:buNone/>
            </a:pPr>
            <a:r>
              <a:rPr lang="en-US" sz="1000" dirty="0">
                <a:solidFill>
                  <a:schemeClr val="dk1"/>
                </a:solidFill>
              </a:rPr>
              <a:t>- Warm-up Time: &lt;3 minutes</a:t>
            </a:r>
          </a:p>
          <a:p>
            <a:pPr marL="12700" lvl="0" indent="0" algn="just" rtl="0">
              <a:lnSpc>
                <a:spcPct val="115000"/>
              </a:lnSpc>
              <a:spcBef>
                <a:spcPts val="0"/>
              </a:spcBef>
              <a:spcAft>
                <a:spcPts val="0"/>
              </a:spcAft>
              <a:buNone/>
            </a:pPr>
            <a:r>
              <a:rPr lang="en-US" sz="1000" dirty="0">
                <a:solidFill>
                  <a:schemeClr val="dk1"/>
                </a:solidFill>
              </a:rPr>
              <a:t>- Operating Voltage: 3.6V to 5.5V DC</a:t>
            </a:r>
          </a:p>
          <a:p>
            <a:pPr marL="12700" lvl="0" indent="0" algn="just" rtl="0">
              <a:lnSpc>
                <a:spcPct val="115000"/>
              </a:lnSpc>
              <a:spcBef>
                <a:spcPts val="0"/>
              </a:spcBef>
              <a:spcAft>
                <a:spcPts val="0"/>
              </a:spcAft>
              <a:buNone/>
            </a:pPr>
            <a:r>
              <a:rPr lang="en-US" sz="1000" dirty="0">
                <a:solidFill>
                  <a:schemeClr val="dk1"/>
                </a:solidFill>
              </a:rPr>
              <a:t>- Operating Current: 18mA (average), 35mA (peak)</a:t>
            </a:r>
          </a:p>
          <a:p>
            <a:pPr marL="12700" lvl="0" indent="0" algn="just" rtl="0">
              <a:lnSpc>
                <a:spcPct val="115000"/>
              </a:lnSpc>
              <a:spcBef>
                <a:spcPts val="0"/>
              </a:spcBef>
              <a:spcAft>
                <a:spcPts val="0"/>
              </a:spcAft>
              <a:buNone/>
            </a:pPr>
            <a:r>
              <a:rPr lang="en-US" sz="1000" dirty="0">
                <a:solidFill>
                  <a:schemeClr val="dk1"/>
                </a:solidFill>
              </a:rPr>
              <a:t>- Operating Temperature Range: 0°C to 50°C</a:t>
            </a:r>
          </a:p>
          <a:p>
            <a:pPr marL="12700" lvl="0" indent="0" algn="just" rtl="0">
              <a:lnSpc>
                <a:spcPct val="115000"/>
              </a:lnSpc>
              <a:spcBef>
                <a:spcPts val="0"/>
              </a:spcBef>
              <a:spcAft>
                <a:spcPts val="0"/>
              </a:spcAft>
              <a:buNone/>
            </a:pPr>
            <a:r>
              <a:rPr lang="en-US" sz="1000" dirty="0">
                <a:solidFill>
                  <a:schemeClr val="dk1"/>
                </a:solidFill>
              </a:rPr>
              <a:t>- Operating Humidity Range: 0% to 95% RH (non-condensing)</a:t>
            </a:r>
          </a:p>
          <a:p>
            <a:pPr marL="12700" lvl="0" indent="0" algn="just" rtl="0">
              <a:lnSpc>
                <a:spcPct val="115000"/>
              </a:lnSpc>
              <a:spcBef>
                <a:spcPts val="0"/>
              </a:spcBef>
              <a:spcAft>
                <a:spcPts val="0"/>
              </a:spcAft>
              <a:buNone/>
            </a:pPr>
            <a:r>
              <a:rPr lang="en-US" sz="1000" dirty="0">
                <a:solidFill>
                  <a:schemeClr val="dk1"/>
                </a:solidFill>
              </a:rPr>
              <a:t>- Dimensions: 33mm x 20mm x 8mm</a:t>
            </a:r>
          </a:p>
          <a:p>
            <a:pPr marL="12700" lvl="0" indent="0" algn="just" rtl="0">
              <a:lnSpc>
                <a:spcPct val="115000"/>
              </a:lnSpc>
              <a:spcBef>
                <a:spcPts val="0"/>
              </a:spcBef>
              <a:spcAft>
                <a:spcPts val="0"/>
              </a:spcAft>
              <a:buNone/>
            </a:pPr>
            <a:r>
              <a:rPr lang="en-US" sz="1000" dirty="0">
                <a:solidFill>
                  <a:schemeClr val="dk1"/>
                </a:solidFill>
              </a:rPr>
              <a:t>- Weight: Approximately 5 grams</a:t>
            </a:r>
          </a:p>
        </p:txBody>
      </p:sp>
      <p:pic>
        <p:nvPicPr>
          <p:cNvPr id="144" name="Google Shape;144;p25"/>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2050" name="Picture 2" descr="MHZ19 Co2 Sensor at Rs 1000 | CO2 Sensors in Nashik | ID: 23108384891">
            <a:extLst>
              <a:ext uri="{FF2B5EF4-FFF2-40B4-BE49-F238E27FC236}">
                <a16:creationId xmlns:a16="http://schemas.microsoft.com/office/drawing/2014/main" id="{D33E7355-8216-217B-EA3B-30B38A537B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1855" y="2760083"/>
            <a:ext cx="2149499" cy="21494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59" name="Google Shape;159;p27"/>
          <p:cNvSpPr txBox="1">
            <a:spLocks noGrp="1"/>
          </p:cNvSpPr>
          <p:nvPr>
            <p:ph type="subTitle" idx="1"/>
          </p:nvPr>
        </p:nvSpPr>
        <p:spPr>
          <a:xfrm>
            <a:off x="-1" y="1155000"/>
            <a:ext cx="6643255" cy="3922500"/>
          </a:xfrm>
          <a:prstGeom prst="rect">
            <a:avLst/>
          </a:prstGeom>
        </p:spPr>
        <p:txBody>
          <a:bodyPr spcFirstLastPara="1" wrap="square" lIns="91425" tIns="91425" rIns="91425" bIns="91425" anchor="t" anchorCtr="0">
            <a:normAutofit fontScale="32500" lnSpcReduction="20000"/>
          </a:bodyPr>
          <a:lstStyle/>
          <a:p>
            <a:pPr marL="12700" lvl="0" indent="0" algn="just" rtl="0">
              <a:lnSpc>
                <a:spcPct val="115000"/>
              </a:lnSpc>
              <a:spcBef>
                <a:spcPts val="0"/>
              </a:spcBef>
              <a:spcAft>
                <a:spcPts val="0"/>
              </a:spcAft>
              <a:buNone/>
            </a:pPr>
            <a:r>
              <a:rPr lang="en" sz="4300" dirty="0">
                <a:solidFill>
                  <a:schemeClr val="dk1"/>
                </a:solidFill>
              </a:rPr>
              <a:t>❖Sensor Working Principle</a:t>
            </a:r>
            <a:endParaRPr sz="4300" dirty="0">
              <a:solidFill>
                <a:schemeClr val="dk1"/>
              </a:solidFill>
            </a:endParaRPr>
          </a:p>
          <a:p>
            <a:pPr marL="12700" lvl="0" indent="0" algn="just" rtl="0">
              <a:lnSpc>
                <a:spcPct val="115000"/>
              </a:lnSpc>
              <a:spcBef>
                <a:spcPts val="0"/>
              </a:spcBef>
              <a:spcAft>
                <a:spcPts val="0"/>
              </a:spcAft>
              <a:buNone/>
            </a:pPr>
            <a:r>
              <a:rPr lang="en" sz="4300" b="1" dirty="0">
                <a:solidFill>
                  <a:schemeClr val="dk1"/>
                </a:solidFill>
              </a:rPr>
              <a:t>Name : DHT22</a:t>
            </a:r>
          </a:p>
          <a:p>
            <a:pPr marL="12700" lvl="0" indent="0" algn="just" rtl="0">
              <a:lnSpc>
                <a:spcPct val="115000"/>
              </a:lnSpc>
              <a:spcBef>
                <a:spcPts val="0"/>
              </a:spcBef>
              <a:spcAft>
                <a:spcPts val="0"/>
              </a:spcAft>
              <a:buNone/>
            </a:pPr>
            <a:endParaRPr lang="en" sz="1800" dirty="0">
              <a:solidFill>
                <a:schemeClr val="dk1"/>
              </a:solidFill>
            </a:endParaRPr>
          </a:p>
          <a:p>
            <a:pPr marL="12700" lvl="0" indent="0" algn="just" rtl="0">
              <a:lnSpc>
                <a:spcPct val="115000"/>
              </a:lnSpc>
              <a:spcBef>
                <a:spcPts val="0"/>
              </a:spcBef>
              <a:spcAft>
                <a:spcPts val="0"/>
              </a:spcAft>
              <a:buNone/>
            </a:pPr>
            <a:r>
              <a:rPr lang="en" sz="3400" dirty="0">
                <a:solidFill>
                  <a:schemeClr val="dk1"/>
                </a:solidFill>
              </a:rPr>
              <a:t>Working Pricniple:</a:t>
            </a:r>
            <a:endParaRPr lang="en-IN" sz="3400" dirty="0">
              <a:solidFill>
                <a:schemeClr val="dk1"/>
              </a:solidFill>
            </a:endParaRPr>
          </a:p>
          <a:p>
            <a:pPr marL="12700" lvl="0" indent="0" algn="just" rtl="0">
              <a:lnSpc>
                <a:spcPct val="115000"/>
              </a:lnSpc>
              <a:spcBef>
                <a:spcPts val="0"/>
              </a:spcBef>
              <a:spcAft>
                <a:spcPts val="0"/>
              </a:spcAft>
              <a:buNone/>
            </a:pPr>
            <a:r>
              <a:rPr lang="en-US" sz="3400" dirty="0">
                <a:solidFill>
                  <a:schemeClr val="dk1"/>
                </a:solidFill>
              </a:rPr>
              <a:t>The DHT22 sensor measures temperature and humidity using a capacitive humidity sensor and a thermistor. The humidity sensor changes its capacitance based on air moisture, converted to digital signals by an analog-to-digital converter. The thermistor detects temperature changes through resistance variation. The sensor's microcontroller processes these signals to output digital temperature and humidity readings.</a:t>
            </a:r>
          </a:p>
          <a:p>
            <a:pPr marL="12700" lvl="0" indent="0" algn="just" rtl="0">
              <a:lnSpc>
                <a:spcPct val="115000"/>
              </a:lnSpc>
              <a:spcBef>
                <a:spcPts val="0"/>
              </a:spcBef>
              <a:spcAft>
                <a:spcPts val="0"/>
              </a:spcAft>
              <a:buNone/>
            </a:pPr>
            <a:endParaRPr lang="en-US" sz="3400" dirty="0">
              <a:solidFill>
                <a:schemeClr val="dk1"/>
              </a:solidFill>
            </a:endParaRPr>
          </a:p>
          <a:p>
            <a:pPr marL="12700" lvl="0" indent="0" algn="just" rtl="0">
              <a:lnSpc>
                <a:spcPct val="115000"/>
              </a:lnSpc>
              <a:spcBef>
                <a:spcPts val="0"/>
              </a:spcBef>
              <a:spcAft>
                <a:spcPts val="0"/>
              </a:spcAft>
              <a:buNone/>
            </a:pPr>
            <a:r>
              <a:rPr lang="en-US" sz="3400" dirty="0">
                <a:solidFill>
                  <a:schemeClr val="dk1"/>
                </a:solidFill>
              </a:rPr>
              <a:t>Specifications:</a:t>
            </a:r>
          </a:p>
          <a:p>
            <a:pPr marL="12700" lvl="0" indent="0" algn="just" rtl="0">
              <a:lnSpc>
                <a:spcPct val="115000"/>
              </a:lnSpc>
              <a:spcBef>
                <a:spcPts val="0"/>
              </a:spcBef>
              <a:spcAft>
                <a:spcPts val="0"/>
              </a:spcAft>
              <a:buNone/>
            </a:pPr>
            <a:r>
              <a:rPr lang="en-US" sz="3400" dirty="0">
                <a:solidFill>
                  <a:schemeClr val="dk1"/>
                </a:solidFill>
              </a:rPr>
              <a:t>- Temperature Measurement Range: -40°C to 80°C</a:t>
            </a:r>
          </a:p>
          <a:p>
            <a:pPr marL="12700" lvl="0" indent="0" algn="just" rtl="0">
              <a:lnSpc>
                <a:spcPct val="115000"/>
              </a:lnSpc>
              <a:spcBef>
                <a:spcPts val="0"/>
              </a:spcBef>
              <a:spcAft>
                <a:spcPts val="0"/>
              </a:spcAft>
              <a:buNone/>
            </a:pPr>
            <a:r>
              <a:rPr lang="en-US" sz="3400" dirty="0">
                <a:solidFill>
                  <a:schemeClr val="dk1"/>
                </a:solidFill>
              </a:rPr>
              <a:t>- Temperature Measurement Accuracy: ±0.5°C</a:t>
            </a:r>
          </a:p>
          <a:p>
            <a:pPr marL="12700" lvl="0" indent="0" algn="just" rtl="0">
              <a:lnSpc>
                <a:spcPct val="115000"/>
              </a:lnSpc>
              <a:spcBef>
                <a:spcPts val="0"/>
              </a:spcBef>
              <a:spcAft>
                <a:spcPts val="0"/>
              </a:spcAft>
              <a:buNone/>
            </a:pPr>
            <a:r>
              <a:rPr lang="en-US" sz="3400" dirty="0">
                <a:solidFill>
                  <a:schemeClr val="dk1"/>
                </a:solidFill>
              </a:rPr>
              <a:t>- Humidity Measurement Range: 0% to 100% RH (Relative Humidity)</a:t>
            </a:r>
          </a:p>
          <a:p>
            <a:pPr marL="12700" lvl="0" indent="0" algn="just" rtl="0">
              <a:lnSpc>
                <a:spcPct val="115000"/>
              </a:lnSpc>
              <a:spcBef>
                <a:spcPts val="0"/>
              </a:spcBef>
              <a:spcAft>
                <a:spcPts val="0"/>
              </a:spcAft>
              <a:buNone/>
            </a:pPr>
            <a:r>
              <a:rPr lang="en-US" sz="3400" dirty="0">
                <a:solidFill>
                  <a:schemeClr val="dk1"/>
                </a:solidFill>
              </a:rPr>
              <a:t>- Humidity Measurement Accuracy: ±2% RH</a:t>
            </a:r>
          </a:p>
          <a:p>
            <a:pPr marL="12700" lvl="0" indent="0" algn="just" rtl="0">
              <a:lnSpc>
                <a:spcPct val="115000"/>
              </a:lnSpc>
              <a:spcBef>
                <a:spcPts val="0"/>
              </a:spcBef>
              <a:spcAft>
                <a:spcPts val="0"/>
              </a:spcAft>
              <a:buNone/>
            </a:pPr>
            <a:r>
              <a:rPr lang="en-US" sz="3400" dirty="0">
                <a:solidFill>
                  <a:schemeClr val="dk1"/>
                </a:solidFill>
              </a:rPr>
              <a:t>- Resolution: 0.1°C for temperature, 0.1% RH for humidity</a:t>
            </a:r>
          </a:p>
          <a:p>
            <a:pPr marL="12700" lvl="0" indent="0" algn="just" rtl="0">
              <a:lnSpc>
                <a:spcPct val="115000"/>
              </a:lnSpc>
              <a:spcBef>
                <a:spcPts val="0"/>
              </a:spcBef>
              <a:spcAft>
                <a:spcPts val="0"/>
              </a:spcAft>
              <a:buNone/>
            </a:pPr>
            <a:r>
              <a:rPr lang="en-US" sz="3400" dirty="0">
                <a:solidFill>
                  <a:schemeClr val="dk1"/>
                </a:solidFill>
              </a:rPr>
              <a:t>- Operating Voltage: 3.3V to 5.5V DC</a:t>
            </a:r>
          </a:p>
          <a:p>
            <a:pPr marL="12700" lvl="0" indent="0" algn="just" rtl="0">
              <a:lnSpc>
                <a:spcPct val="115000"/>
              </a:lnSpc>
              <a:spcBef>
                <a:spcPts val="0"/>
              </a:spcBef>
              <a:spcAft>
                <a:spcPts val="0"/>
              </a:spcAft>
              <a:buNone/>
            </a:pPr>
            <a:r>
              <a:rPr lang="en-US" sz="3400" dirty="0">
                <a:solidFill>
                  <a:schemeClr val="dk1"/>
                </a:solidFill>
              </a:rPr>
              <a:t>- Operating Current: 0.3mA (standby), 2.5mA (active)</a:t>
            </a:r>
          </a:p>
          <a:p>
            <a:pPr marL="12700" lvl="0" indent="0" algn="just" rtl="0">
              <a:lnSpc>
                <a:spcPct val="115000"/>
              </a:lnSpc>
              <a:spcBef>
                <a:spcPts val="0"/>
              </a:spcBef>
              <a:spcAft>
                <a:spcPts val="0"/>
              </a:spcAft>
              <a:buNone/>
            </a:pPr>
            <a:r>
              <a:rPr lang="en-US" sz="3400" dirty="0">
                <a:solidFill>
                  <a:schemeClr val="dk1"/>
                </a:solidFill>
              </a:rPr>
              <a:t>- Sampling Interval: 2 seconds (minimum)</a:t>
            </a:r>
          </a:p>
          <a:p>
            <a:pPr marL="12700" lvl="0" indent="0" algn="just" rtl="0">
              <a:lnSpc>
                <a:spcPct val="115000"/>
              </a:lnSpc>
              <a:spcBef>
                <a:spcPts val="0"/>
              </a:spcBef>
              <a:spcAft>
                <a:spcPts val="0"/>
              </a:spcAft>
              <a:buNone/>
            </a:pPr>
            <a:r>
              <a:rPr lang="en-US" sz="3400" dirty="0">
                <a:solidFill>
                  <a:schemeClr val="dk1"/>
                </a:solidFill>
              </a:rPr>
              <a:t>- Response Time: 2 seconds (typical) for both temperature and humidity</a:t>
            </a:r>
          </a:p>
          <a:p>
            <a:pPr marL="12700" lvl="0" indent="0" algn="just" rtl="0">
              <a:lnSpc>
                <a:spcPct val="115000"/>
              </a:lnSpc>
              <a:spcBef>
                <a:spcPts val="0"/>
              </a:spcBef>
              <a:spcAft>
                <a:spcPts val="0"/>
              </a:spcAft>
              <a:buNone/>
            </a:pPr>
            <a:r>
              <a:rPr lang="en-US" sz="3400" dirty="0">
                <a:solidFill>
                  <a:schemeClr val="dk1"/>
                </a:solidFill>
              </a:rPr>
              <a:t>- Output: Digital signal (single-wire serial interface)</a:t>
            </a:r>
          </a:p>
          <a:p>
            <a:pPr marL="12700" lvl="0" indent="0" algn="just" rtl="0">
              <a:lnSpc>
                <a:spcPct val="115000"/>
              </a:lnSpc>
              <a:spcBef>
                <a:spcPts val="0"/>
              </a:spcBef>
              <a:spcAft>
                <a:spcPts val="0"/>
              </a:spcAft>
              <a:buNone/>
            </a:pPr>
            <a:r>
              <a:rPr lang="en-US" sz="3400" dirty="0">
                <a:solidFill>
                  <a:schemeClr val="dk1"/>
                </a:solidFill>
              </a:rPr>
              <a:t>- Dimensions: 15.1mm x 25mm x 7.7mm</a:t>
            </a:r>
          </a:p>
          <a:p>
            <a:pPr marL="12700" lvl="0" indent="0" algn="just" rtl="0">
              <a:lnSpc>
                <a:spcPct val="115000"/>
              </a:lnSpc>
              <a:spcBef>
                <a:spcPts val="0"/>
              </a:spcBef>
              <a:spcAft>
                <a:spcPts val="0"/>
              </a:spcAft>
              <a:buNone/>
            </a:pPr>
            <a:r>
              <a:rPr lang="en-US" sz="3400" dirty="0">
                <a:solidFill>
                  <a:schemeClr val="dk1"/>
                </a:solidFill>
              </a:rPr>
              <a:t>- Weight: Approximately 3 grams</a:t>
            </a:r>
            <a:endParaRPr sz="3400" dirty="0">
              <a:solidFill>
                <a:schemeClr val="dk1"/>
              </a:solidFill>
            </a:endParaRPr>
          </a:p>
          <a:p>
            <a:pPr marL="12700" lvl="0" indent="0" algn="just" rtl="0">
              <a:lnSpc>
                <a:spcPct val="115000"/>
              </a:lnSpc>
              <a:spcBef>
                <a:spcPts val="0"/>
              </a:spcBef>
              <a:spcAft>
                <a:spcPts val="0"/>
              </a:spcAft>
              <a:buNone/>
            </a:pPr>
            <a:endParaRPr sz="1700" dirty="0">
              <a:solidFill>
                <a:schemeClr val="dk1"/>
              </a:solidFill>
            </a:endParaRPr>
          </a:p>
          <a:p>
            <a:pPr marL="12700" lvl="0" indent="0" algn="just" rtl="0">
              <a:lnSpc>
                <a:spcPct val="115000"/>
              </a:lnSpc>
              <a:spcBef>
                <a:spcPts val="0"/>
              </a:spcBef>
              <a:spcAft>
                <a:spcPts val="0"/>
              </a:spcAft>
              <a:buNone/>
            </a:pPr>
            <a:endParaRPr sz="1700" dirty="0">
              <a:solidFill>
                <a:schemeClr val="dk1"/>
              </a:solidFill>
            </a:endParaRPr>
          </a:p>
          <a:p>
            <a:pPr marL="0" lvl="0" indent="0" algn="just" rtl="0">
              <a:spcBef>
                <a:spcPts val="0"/>
              </a:spcBef>
              <a:spcAft>
                <a:spcPts val="0"/>
              </a:spcAft>
              <a:buNone/>
            </a:pPr>
            <a:endParaRPr sz="1400" dirty="0">
              <a:solidFill>
                <a:schemeClr val="dk1"/>
              </a:solidFill>
            </a:endParaRPr>
          </a:p>
        </p:txBody>
      </p:sp>
      <p:pic>
        <p:nvPicPr>
          <p:cNvPr id="160" name="Google Shape;160;p27"/>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4098" name="Picture 2" descr="DHT22 - Temperature and Humidity Sensor Module buy online at Low Price in  India - ElectronicsComp.com">
            <a:extLst>
              <a:ext uri="{FF2B5EF4-FFF2-40B4-BE49-F238E27FC236}">
                <a16:creationId xmlns:a16="http://schemas.microsoft.com/office/drawing/2014/main" id="{F1C2813E-AFA1-F603-B39E-E232FD6472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8878" y="1727334"/>
            <a:ext cx="2138086" cy="21380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51" name="Google Shape;151;p26"/>
          <p:cNvSpPr txBox="1">
            <a:spLocks noGrp="1"/>
          </p:cNvSpPr>
          <p:nvPr>
            <p:ph type="subTitle" idx="1"/>
          </p:nvPr>
        </p:nvSpPr>
        <p:spPr>
          <a:xfrm>
            <a:off x="0" y="1155000"/>
            <a:ext cx="6532418" cy="3922500"/>
          </a:xfrm>
          <a:prstGeom prst="rect">
            <a:avLst/>
          </a:prstGeom>
        </p:spPr>
        <p:txBody>
          <a:bodyPr spcFirstLastPara="1" wrap="square" lIns="91425" tIns="91425" rIns="91425" bIns="91425" anchor="t" anchorCtr="0">
            <a:normAutofit fontScale="70000" lnSpcReduction="20000"/>
          </a:bodyPr>
          <a:lstStyle/>
          <a:p>
            <a:pPr marL="12700" lvl="0" indent="0" algn="just" rtl="0">
              <a:lnSpc>
                <a:spcPct val="115000"/>
              </a:lnSpc>
              <a:spcBef>
                <a:spcPts val="0"/>
              </a:spcBef>
              <a:spcAft>
                <a:spcPts val="0"/>
              </a:spcAft>
              <a:buNone/>
            </a:pPr>
            <a:r>
              <a:rPr lang="en" sz="1800" dirty="0">
                <a:solidFill>
                  <a:schemeClr val="dk1"/>
                </a:solidFill>
              </a:rPr>
              <a:t>❖Sensor Working Principle</a:t>
            </a:r>
            <a:endParaRPr sz="1800" dirty="0">
              <a:solidFill>
                <a:schemeClr val="dk1"/>
              </a:solidFill>
            </a:endParaRPr>
          </a:p>
          <a:p>
            <a:pPr marL="12700" lvl="0" indent="0" algn="just" rtl="0">
              <a:lnSpc>
                <a:spcPct val="115000"/>
              </a:lnSpc>
              <a:spcBef>
                <a:spcPts val="0"/>
              </a:spcBef>
              <a:spcAft>
                <a:spcPts val="0"/>
              </a:spcAft>
              <a:buNone/>
            </a:pPr>
            <a:r>
              <a:rPr lang="en" sz="1800" b="1" dirty="0">
                <a:solidFill>
                  <a:schemeClr val="dk1"/>
                </a:solidFill>
              </a:rPr>
              <a:t>Name : BH1750</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Working Principle:</a:t>
            </a:r>
          </a:p>
          <a:p>
            <a:pPr marL="12700" lvl="0" indent="0" algn="just" rtl="0">
              <a:lnSpc>
                <a:spcPct val="115000"/>
              </a:lnSpc>
              <a:spcBef>
                <a:spcPts val="0"/>
              </a:spcBef>
              <a:spcAft>
                <a:spcPts val="0"/>
              </a:spcAft>
              <a:buNone/>
            </a:pPr>
            <a:r>
              <a:rPr lang="en-US" sz="1700" dirty="0">
                <a:solidFill>
                  <a:schemeClr val="dk1"/>
                </a:solidFill>
              </a:rPr>
              <a:t>The BH1750 sensor operates based on the principle of light intensity measurement using a photodiode. It contains a photodiode that converts light energy into electrical current. The sensor's internal circuitry amplifies and converts this current into a digital signal. The intensity of the digital signal is proportional to the amount of light falling on the photodiode. By measuring this digital signal, the sensor can determine the ambient light intensity.</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Specifications:</a:t>
            </a:r>
          </a:p>
          <a:p>
            <a:pPr marL="12700" lvl="0" indent="0" algn="just" rtl="0">
              <a:lnSpc>
                <a:spcPct val="115000"/>
              </a:lnSpc>
              <a:spcBef>
                <a:spcPts val="0"/>
              </a:spcBef>
              <a:spcAft>
                <a:spcPts val="0"/>
              </a:spcAft>
              <a:buNone/>
            </a:pPr>
            <a:r>
              <a:rPr lang="en-US" sz="1700" dirty="0">
                <a:solidFill>
                  <a:schemeClr val="dk1"/>
                </a:solidFill>
              </a:rPr>
              <a:t>- Measurement Range: 0 to 65535 lux</a:t>
            </a:r>
          </a:p>
          <a:p>
            <a:pPr marL="12700" lvl="0" indent="0" algn="just" rtl="0">
              <a:lnSpc>
                <a:spcPct val="115000"/>
              </a:lnSpc>
              <a:spcBef>
                <a:spcPts val="0"/>
              </a:spcBef>
              <a:spcAft>
                <a:spcPts val="0"/>
              </a:spcAft>
              <a:buNone/>
            </a:pPr>
            <a:r>
              <a:rPr lang="en-US" sz="1700" dirty="0">
                <a:solidFill>
                  <a:schemeClr val="dk1"/>
                </a:solidFill>
              </a:rPr>
              <a:t>- Measurement Resolution: 1 lux</a:t>
            </a:r>
          </a:p>
          <a:p>
            <a:pPr marL="12700" lvl="0" indent="0" algn="just" rtl="0">
              <a:lnSpc>
                <a:spcPct val="115000"/>
              </a:lnSpc>
              <a:spcBef>
                <a:spcPts val="0"/>
              </a:spcBef>
              <a:spcAft>
                <a:spcPts val="0"/>
              </a:spcAft>
              <a:buNone/>
            </a:pPr>
            <a:r>
              <a:rPr lang="en-US" sz="1700" dirty="0">
                <a:solidFill>
                  <a:schemeClr val="dk1"/>
                </a:solidFill>
              </a:rPr>
              <a:t>- Measurement Accuracy: ±20% (50 to 10000 lux)</a:t>
            </a:r>
          </a:p>
          <a:p>
            <a:pPr marL="12700" lvl="0" indent="0" algn="just" rtl="0">
              <a:lnSpc>
                <a:spcPct val="115000"/>
              </a:lnSpc>
              <a:spcBef>
                <a:spcPts val="0"/>
              </a:spcBef>
              <a:spcAft>
                <a:spcPts val="0"/>
              </a:spcAft>
              <a:buNone/>
            </a:pPr>
            <a:r>
              <a:rPr lang="en-US" sz="1700" dirty="0">
                <a:solidFill>
                  <a:schemeClr val="dk1"/>
                </a:solidFill>
              </a:rPr>
              <a:t>- Operating Voltage: 2.4V to 3.6V DC</a:t>
            </a:r>
          </a:p>
          <a:p>
            <a:pPr marL="12700" lvl="0" indent="0" algn="just" rtl="0">
              <a:lnSpc>
                <a:spcPct val="115000"/>
              </a:lnSpc>
              <a:spcBef>
                <a:spcPts val="0"/>
              </a:spcBef>
              <a:spcAft>
                <a:spcPts val="0"/>
              </a:spcAft>
              <a:buNone/>
            </a:pPr>
            <a:r>
              <a:rPr lang="en-US" sz="1700" dirty="0">
                <a:solidFill>
                  <a:schemeClr val="dk1"/>
                </a:solidFill>
              </a:rPr>
              <a:t>- Operating Current: 0.12mA (typical)</a:t>
            </a:r>
          </a:p>
          <a:p>
            <a:pPr marL="12700" lvl="0" indent="0" algn="just" rtl="0">
              <a:lnSpc>
                <a:spcPct val="115000"/>
              </a:lnSpc>
              <a:spcBef>
                <a:spcPts val="0"/>
              </a:spcBef>
              <a:spcAft>
                <a:spcPts val="0"/>
              </a:spcAft>
              <a:buNone/>
            </a:pPr>
            <a:r>
              <a:rPr lang="en-US" sz="1700" dirty="0">
                <a:solidFill>
                  <a:schemeClr val="dk1"/>
                </a:solidFill>
              </a:rPr>
              <a:t>- Response Time: 16ms (typical)</a:t>
            </a:r>
          </a:p>
          <a:p>
            <a:pPr marL="12700" lvl="0" indent="0" algn="just" rtl="0">
              <a:lnSpc>
                <a:spcPct val="115000"/>
              </a:lnSpc>
              <a:spcBef>
                <a:spcPts val="0"/>
              </a:spcBef>
              <a:spcAft>
                <a:spcPts val="0"/>
              </a:spcAft>
              <a:buNone/>
            </a:pPr>
            <a:r>
              <a:rPr lang="en-US" sz="1700" dirty="0">
                <a:solidFill>
                  <a:schemeClr val="dk1"/>
                </a:solidFill>
              </a:rPr>
              <a:t>- I2C Address: 0x23 or 0x5C (selectable)</a:t>
            </a:r>
          </a:p>
          <a:p>
            <a:pPr marL="12700" lvl="0" indent="0" algn="just" rtl="0">
              <a:lnSpc>
                <a:spcPct val="115000"/>
              </a:lnSpc>
              <a:spcBef>
                <a:spcPts val="0"/>
              </a:spcBef>
              <a:spcAft>
                <a:spcPts val="0"/>
              </a:spcAft>
              <a:buNone/>
            </a:pPr>
            <a:r>
              <a:rPr lang="en-US" sz="1700" dirty="0">
                <a:solidFill>
                  <a:schemeClr val="dk1"/>
                </a:solidFill>
              </a:rPr>
              <a:t>- Operating Temperature Range: -40°C to 85°C</a:t>
            </a:r>
          </a:p>
          <a:p>
            <a:pPr marL="12700" lvl="0" indent="0" algn="just" rtl="0">
              <a:lnSpc>
                <a:spcPct val="115000"/>
              </a:lnSpc>
              <a:spcBef>
                <a:spcPts val="0"/>
              </a:spcBef>
              <a:spcAft>
                <a:spcPts val="0"/>
              </a:spcAft>
              <a:buNone/>
            </a:pPr>
            <a:r>
              <a:rPr lang="en-US" sz="1700" dirty="0">
                <a:solidFill>
                  <a:schemeClr val="dk1"/>
                </a:solidFill>
              </a:rPr>
              <a:t>- Dimensions: 2.4mm x 2.4mm x 0.8mm (typical)</a:t>
            </a:r>
          </a:p>
          <a:p>
            <a:pPr marL="12700" lvl="0" indent="0" algn="just" rtl="0">
              <a:lnSpc>
                <a:spcPct val="115000"/>
              </a:lnSpc>
              <a:spcBef>
                <a:spcPts val="0"/>
              </a:spcBef>
              <a:spcAft>
                <a:spcPts val="0"/>
              </a:spcAft>
              <a:buNone/>
            </a:pPr>
            <a:r>
              <a:rPr lang="en-US" sz="1700" dirty="0">
                <a:solidFill>
                  <a:schemeClr val="dk1"/>
                </a:solidFill>
              </a:rPr>
              <a:t>- Weight: Approximately 0.04 grams</a:t>
            </a:r>
            <a:endParaRPr sz="1400" dirty="0">
              <a:solidFill>
                <a:schemeClr val="dk1"/>
              </a:solidFill>
            </a:endParaRPr>
          </a:p>
        </p:txBody>
      </p:sp>
      <p:pic>
        <p:nvPicPr>
          <p:cNvPr id="152" name="Google Shape;152;p26"/>
          <p:cNvPicPr preferRelativeResize="0"/>
          <p:nvPr/>
        </p:nvPicPr>
        <p:blipFill>
          <a:blip r:embed="rId3">
            <a:alphaModFix/>
          </a:blip>
          <a:stretch>
            <a:fillRect/>
          </a:stretch>
        </p:blipFill>
        <p:spPr>
          <a:xfrm>
            <a:off x="0" y="0"/>
            <a:ext cx="1063200" cy="1063200"/>
          </a:xfrm>
          <a:prstGeom prst="rect">
            <a:avLst/>
          </a:prstGeom>
          <a:noFill/>
          <a:ln>
            <a:noFill/>
          </a:ln>
        </p:spPr>
      </p:pic>
      <p:sp>
        <p:nvSpPr>
          <p:cNvPr id="2" name="AutoShape 2" descr="GY-302 BH1750 Light Intensity Module by Robocraze">
            <a:extLst>
              <a:ext uri="{FF2B5EF4-FFF2-40B4-BE49-F238E27FC236}">
                <a16:creationId xmlns:a16="http://schemas.microsoft.com/office/drawing/2014/main" id="{75DAE101-1260-7DD1-F129-4821CB5B697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80" name="Picture 8" descr="Buy GY-302 BH1750 Light Intensity Module Online at Robu.in">
            <a:extLst>
              <a:ext uri="{FF2B5EF4-FFF2-40B4-BE49-F238E27FC236}">
                <a16:creationId xmlns:a16="http://schemas.microsoft.com/office/drawing/2014/main" id="{C79E06E6-45AB-398C-F6B5-089357F6DE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9064" y="1714502"/>
            <a:ext cx="2434936" cy="24349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67" name="Google Shape;167;p28"/>
          <p:cNvSpPr txBox="1">
            <a:spLocks noGrp="1"/>
          </p:cNvSpPr>
          <p:nvPr>
            <p:ph type="subTitle" idx="1"/>
          </p:nvPr>
        </p:nvSpPr>
        <p:spPr>
          <a:xfrm>
            <a:off x="1" y="1155000"/>
            <a:ext cx="5980399" cy="3922500"/>
          </a:xfrm>
          <a:prstGeom prst="rect">
            <a:avLst/>
          </a:prstGeom>
        </p:spPr>
        <p:txBody>
          <a:bodyPr spcFirstLastPara="1" wrap="square" lIns="91425" tIns="91425" rIns="91425" bIns="91425" anchor="t" anchorCtr="0">
            <a:normAutofit fontScale="85000" lnSpcReduction="20000"/>
          </a:bodyPr>
          <a:lstStyle/>
          <a:p>
            <a:pPr marL="12700" lvl="0" indent="0" algn="just" rtl="0">
              <a:lnSpc>
                <a:spcPct val="115000"/>
              </a:lnSpc>
              <a:spcBef>
                <a:spcPts val="0"/>
              </a:spcBef>
              <a:spcAft>
                <a:spcPts val="0"/>
              </a:spcAft>
              <a:buNone/>
            </a:pPr>
            <a:r>
              <a:rPr lang="en" sz="1800" dirty="0">
                <a:solidFill>
                  <a:schemeClr val="dk1"/>
                </a:solidFill>
              </a:rPr>
              <a:t>❖Indicator</a:t>
            </a:r>
            <a:endParaRPr sz="1800" dirty="0">
              <a:solidFill>
                <a:schemeClr val="dk1"/>
              </a:solidFill>
            </a:endParaRPr>
          </a:p>
          <a:p>
            <a:pPr marL="12700" lvl="0" indent="0" algn="just" rtl="0">
              <a:lnSpc>
                <a:spcPct val="115000"/>
              </a:lnSpc>
              <a:spcBef>
                <a:spcPts val="0"/>
              </a:spcBef>
              <a:spcAft>
                <a:spcPts val="0"/>
              </a:spcAft>
              <a:buNone/>
            </a:pPr>
            <a:r>
              <a:rPr lang="en" sz="1800" b="1" dirty="0">
                <a:solidFill>
                  <a:schemeClr val="dk1"/>
                </a:solidFill>
              </a:rPr>
              <a:t>Name : 0.96’ OLED</a:t>
            </a:r>
            <a:endParaRPr sz="1800" b="1" dirty="0">
              <a:solidFill>
                <a:schemeClr val="dk1"/>
              </a:solidFill>
            </a:endParaRPr>
          </a:p>
          <a:p>
            <a:pPr marL="0" lvl="0" indent="0" algn="just" rtl="0">
              <a:spcBef>
                <a:spcPts val="0"/>
              </a:spcBef>
              <a:spcAft>
                <a:spcPts val="0"/>
              </a:spcAft>
              <a:buNone/>
            </a:pPr>
            <a:endParaRPr lang="en-US" sz="1400" dirty="0">
              <a:solidFill>
                <a:schemeClr val="dk1"/>
              </a:solidFill>
            </a:endParaRPr>
          </a:p>
          <a:p>
            <a:pPr marL="0" lvl="0" indent="0" algn="just" rtl="0">
              <a:spcBef>
                <a:spcPts val="0"/>
              </a:spcBef>
              <a:spcAft>
                <a:spcPts val="0"/>
              </a:spcAft>
              <a:buNone/>
            </a:pPr>
            <a:r>
              <a:rPr lang="en-US" sz="1400" dirty="0">
                <a:solidFill>
                  <a:schemeClr val="dk1"/>
                </a:solidFill>
              </a:rPr>
              <a:t>Working Principle:</a:t>
            </a:r>
          </a:p>
          <a:p>
            <a:pPr marL="0" lvl="0" indent="0" algn="just" rtl="0">
              <a:spcBef>
                <a:spcPts val="0"/>
              </a:spcBef>
              <a:spcAft>
                <a:spcPts val="0"/>
              </a:spcAft>
              <a:buNone/>
            </a:pPr>
            <a:r>
              <a:rPr lang="en-US" sz="1400" dirty="0">
                <a:solidFill>
                  <a:schemeClr val="dk1"/>
                </a:solidFill>
              </a:rPr>
              <a:t>An OLED display consists of thin organic layers sandwiched between two electrodes, namely the anode and the cathode. When an electric current is applied, electrons are injected from the cathode and holes from the anode into the organic layers. These electrons and holes combine in the emissive layer, causing organic compounds to emit light. The emitted light passes through the transparent anode and cathode, resulting in the display of images or text.</a:t>
            </a:r>
          </a:p>
          <a:p>
            <a:pPr marL="0" lvl="0" indent="0" algn="just" rtl="0">
              <a:spcBef>
                <a:spcPts val="0"/>
              </a:spcBef>
              <a:spcAft>
                <a:spcPts val="0"/>
              </a:spcAft>
              <a:buNone/>
            </a:pPr>
            <a:endParaRPr lang="en-US" sz="1400" dirty="0">
              <a:solidFill>
                <a:schemeClr val="dk1"/>
              </a:solidFill>
            </a:endParaRPr>
          </a:p>
          <a:p>
            <a:pPr marL="0" lvl="0" indent="0" algn="just" rtl="0">
              <a:spcBef>
                <a:spcPts val="0"/>
              </a:spcBef>
              <a:spcAft>
                <a:spcPts val="0"/>
              </a:spcAft>
              <a:buNone/>
            </a:pPr>
            <a:r>
              <a:rPr lang="en-US" sz="1400" dirty="0">
                <a:solidFill>
                  <a:schemeClr val="dk1"/>
                </a:solidFill>
              </a:rPr>
              <a:t>Specifications:</a:t>
            </a:r>
          </a:p>
          <a:p>
            <a:pPr marL="0" lvl="0" indent="0" algn="just" rtl="0">
              <a:spcBef>
                <a:spcPts val="0"/>
              </a:spcBef>
              <a:spcAft>
                <a:spcPts val="0"/>
              </a:spcAft>
              <a:buNone/>
            </a:pPr>
            <a:r>
              <a:rPr lang="en-US" sz="1400" dirty="0">
                <a:solidFill>
                  <a:schemeClr val="dk1"/>
                </a:solidFill>
              </a:rPr>
              <a:t>- Screen Size: 0.9 inches (diagonal)</a:t>
            </a:r>
          </a:p>
          <a:p>
            <a:pPr marL="0" lvl="0" indent="0" algn="just" rtl="0">
              <a:spcBef>
                <a:spcPts val="0"/>
              </a:spcBef>
              <a:spcAft>
                <a:spcPts val="0"/>
              </a:spcAft>
              <a:buNone/>
            </a:pPr>
            <a:r>
              <a:rPr lang="en-US" sz="1400" dirty="0">
                <a:solidFill>
                  <a:schemeClr val="dk1"/>
                </a:solidFill>
              </a:rPr>
              <a:t>- Resolution: Typically 128x32 pixels or 80x160 pixels</a:t>
            </a:r>
          </a:p>
          <a:p>
            <a:pPr marL="0" lvl="0" indent="0" algn="just" rtl="0">
              <a:spcBef>
                <a:spcPts val="0"/>
              </a:spcBef>
              <a:spcAft>
                <a:spcPts val="0"/>
              </a:spcAft>
              <a:buNone/>
            </a:pPr>
            <a:r>
              <a:rPr lang="en-US" sz="1400" dirty="0">
                <a:solidFill>
                  <a:schemeClr val="dk1"/>
                </a:solidFill>
              </a:rPr>
              <a:t>- Display Technology: OLED (Organic Light-Emitting Diode)</a:t>
            </a:r>
          </a:p>
          <a:p>
            <a:pPr marL="0" lvl="0" indent="0" algn="just" rtl="0">
              <a:spcBef>
                <a:spcPts val="0"/>
              </a:spcBef>
              <a:spcAft>
                <a:spcPts val="0"/>
              </a:spcAft>
              <a:buNone/>
            </a:pPr>
            <a:r>
              <a:rPr lang="en-US" sz="1400" dirty="0">
                <a:solidFill>
                  <a:schemeClr val="dk1"/>
                </a:solidFill>
              </a:rPr>
              <a:t>- Color Depth: Monochrome (typically white or blue)</a:t>
            </a:r>
          </a:p>
          <a:p>
            <a:pPr marL="0" lvl="0" indent="0" algn="just" rtl="0">
              <a:spcBef>
                <a:spcPts val="0"/>
              </a:spcBef>
              <a:spcAft>
                <a:spcPts val="0"/>
              </a:spcAft>
              <a:buNone/>
            </a:pPr>
            <a:r>
              <a:rPr lang="en-US" sz="1400" dirty="0">
                <a:solidFill>
                  <a:schemeClr val="dk1"/>
                </a:solidFill>
              </a:rPr>
              <a:t>- Interface: Typically SPI (Serial Peripheral Interface) or I2C (Inter-Integrated Circuit)</a:t>
            </a:r>
          </a:p>
          <a:p>
            <a:pPr marL="0" lvl="0" indent="0" algn="just" rtl="0">
              <a:spcBef>
                <a:spcPts val="0"/>
              </a:spcBef>
              <a:spcAft>
                <a:spcPts val="0"/>
              </a:spcAft>
              <a:buNone/>
            </a:pPr>
            <a:r>
              <a:rPr lang="en-US" sz="1400" dirty="0">
                <a:solidFill>
                  <a:schemeClr val="dk1"/>
                </a:solidFill>
              </a:rPr>
              <a:t>- Operating Voltage: Typically 3.3V or 5V</a:t>
            </a:r>
          </a:p>
          <a:p>
            <a:pPr marL="0" lvl="0" indent="0" algn="just" rtl="0">
              <a:spcBef>
                <a:spcPts val="0"/>
              </a:spcBef>
              <a:spcAft>
                <a:spcPts val="0"/>
              </a:spcAft>
              <a:buNone/>
            </a:pPr>
            <a:r>
              <a:rPr lang="en-US" sz="1400" dirty="0">
                <a:solidFill>
                  <a:schemeClr val="dk1"/>
                </a:solidFill>
              </a:rPr>
              <a:t>- Viewing Angle: Wide viewing angle, typically &gt;160 degrees</a:t>
            </a:r>
          </a:p>
          <a:p>
            <a:pPr marL="0" lvl="0" indent="0" algn="just" rtl="0">
              <a:spcBef>
                <a:spcPts val="0"/>
              </a:spcBef>
              <a:spcAft>
                <a:spcPts val="0"/>
              </a:spcAft>
              <a:buNone/>
            </a:pPr>
            <a:r>
              <a:rPr lang="en-US" sz="1400" dirty="0">
                <a:solidFill>
                  <a:schemeClr val="dk1"/>
                </a:solidFill>
              </a:rPr>
              <a:t>- Operating Temperature Range: Typically -40°C to 80°C</a:t>
            </a:r>
          </a:p>
          <a:p>
            <a:pPr marL="0" lvl="0" indent="0" algn="just" rtl="0">
              <a:spcBef>
                <a:spcPts val="0"/>
              </a:spcBef>
              <a:spcAft>
                <a:spcPts val="0"/>
              </a:spcAft>
              <a:buNone/>
            </a:pPr>
            <a:r>
              <a:rPr lang="en-US" sz="1400" dirty="0">
                <a:solidFill>
                  <a:schemeClr val="dk1"/>
                </a:solidFill>
              </a:rPr>
              <a:t>- Dimensions: Varies depending on the specific model</a:t>
            </a:r>
          </a:p>
          <a:p>
            <a:pPr marL="0" lvl="0" indent="0" algn="just" rtl="0">
              <a:spcBef>
                <a:spcPts val="0"/>
              </a:spcBef>
              <a:spcAft>
                <a:spcPts val="0"/>
              </a:spcAft>
              <a:buNone/>
            </a:pPr>
            <a:r>
              <a:rPr lang="en-US" sz="1400" dirty="0">
                <a:solidFill>
                  <a:schemeClr val="dk1"/>
                </a:solidFill>
              </a:rPr>
              <a:t>- Weight: Lightweight, typically a few grams</a:t>
            </a:r>
            <a:endParaRPr sz="1700" dirty="0">
              <a:solidFill>
                <a:schemeClr val="dk1"/>
              </a:solidFill>
            </a:endParaRPr>
          </a:p>
        </p:txBody>
      </p:sp>
      <p:pic>
        <p:nvPicPr>
          <p:cNvPr id="168" name="Google Shape;168;p28"/>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169" name="Google Shape;169;p28"/>
          <p:cNvPicPr preferRelativeResize="0"/>
          <p:nvPr/>
        </p:nvPicPr>
        <p:blipFill>
          <a:blip r:embed="rId4">
            <a:alphaModFix/>
          </a:blip>
          <a:stretch>
            <a:fillRect/>
          </a:stretch>
        </p:blipFill>
        <p:spPr>
          <a:xfrm>
            <a:off x="6165272" y="1499814"/>
            <a:ext cx="2978727" cy="29128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83" name="Google Shape;183;p30"/>
          <p:cNvSpPr txBox="1">
            <a:spLocks noGrp="1"/>
          </p:cNvSpPr>
          <p:nvPr>
            <p:ph type="subTitle" idx="1"/>
          </p:nvPr>
        </p:nvSpPr>
        <p:spPr>
          <a:xfrm>
            <a:off x="0" y="1155000"/>
            <a:ext cx="6752359" cy="3922500"/>
          </a:xfrm>
          <a:prstGeom prst="rect">
            <a:avLst/>
          </a:prstGeom>
        </p:spPr>
        <p:txBody>
          <a:bodyPr spcFirstLastPara="1" wrap="square" lIns="91425" tIns="91425" rIns="91425" bIns="91425" anchor="t" anchorCtr="0">
            <a:normAutofit fontScale="85000" lnSpcReduction="10000"/>
          </a:bodyPr>
          <a:lstStyle/>
          <a:p>
            <a:pPr marL="12700" lvl="0" indent="0" algn="l" rtl="0">
              <a:lnSpc>
                <a:spcPct val="115000"/>
              </a:lnSpc>
              <a:spcBef>
                <a:spcPts val="0"/>
              </a:spcBef>
              <a:spcAft>
                <a:spcPts val="0"/>
              </a:spcAft>
              <a:buNone/>
            </a:pPr>
            <a:r>
              <a:rPr lang="en" sz="1800" dirty="0">
                <a:solidFill>
                  <a:schemeClr val="dk1"/>
                </a:solidFill>
              </a:rPr>
              <a:t>❖Actuator</a:t>
            </a:r>
            <a:endParaRPr sz="1800" dirty="0">
              <a:solidFill>
                <a:schemeClr val="dk1"/>
              </a:solidFill>
            </a:endParaRPr>
          </a:p>
          <a:p>
            <a:pPr marL="12700" lvl="0" indent="0" algn="l" rtl="0">
              <a:lnSpc>
                <a:spcPct val="115000"/>
              </a:lnSpc>
              <a:spcBef>
                <a:spcPts val="0"/>
              </a:spcBef>
              <a:spcAft>
                <a:spcPts val="0"/>
              </a:spcAft>
              <a:buNone/>
            </a:pPr>
            <a:r>
              <a:rPr lang="en" sz="1800" b="1" dirty="0">
                <a:solidFill>
                  <a:schemeClr val="dk1"/>
                </a:solidFill>
              </a:rPr>
              <a:t>Name : Pump</a:t>
            </a:r>
            <a:endParaRPr sz="1800" b="1" dirty="0">
              <a:solidFill>
                <a:schemeClr val="dk1"/>
              </a:solidFill>
            </a:endParaRPr>
          </a:p>
          <a:p>
            <a:pPr marL="12700" lvl="0" indent="0" algn="l" rtl="0">
              <a:lnSpc>
                <a:spcPct val="115000"/>
              </a:lnSpc>
              <a:spcBef>
                <a:spcPts val="0"/>
              </a:spcBef>
              <a:spcAft>
                <a:spcPts val="0"/>
              </a:spcAft>
              <a:buNone/>
            </a:pPr>
            <a:r>
              <a:rPr lang="en" sz="1800" dirty="0">
                <a:solidFill>
                  <a:schemeClr val="dk1"/>
                </a:solidFill>
              </a:rPr>
              <a:t>Working principle: </a:t>
            </a:r>
          </a:p>
          <a:p>
            <a:pPr marL="12700" lvl="0" indent="0" algn="l" rtl="0">
              <a:lnSpc>
                <a:spcPct val="115000"/>
              </a:lnSpc>
              <a:spcBef>
                <a:spcPts val="0"/>
              </a:spcBef>
              <a:spcAft>
                <a:spcPts val="0"/>
              </a:spcAft>
              <a:buNone/>
            </a:pPr>
            <a:r>
              <a:rPr lang="en-US" sz="1700" dirty="0">
                <a:solidFill>
                  <a:schemeClr val="dk1"/>
                </a:solidFill>
              </a:rPr>
              <a:t>A 5-volt pump works by converting electrical energy into mechanical energy to move fluids. It operates using a small motor and an impeller or propeller to push fluid through its outlet.</a:t>
            </a:r>
          </a:p>
          <a:p>
            <a:pPr marL="12700" lvl="0" indent="0" algn="l" rtl="0">
              <a:lnSpc>
                <a:spcPct val="115000"/>
              </a:lnSpc>
              <a:spcBef>
                <a:spcPts val="0"/>
              </a:spcBef>
              <a:spcAft>
                <a:spcPts val="0"/>
              </a:spcAft>
              <a:buNone/>
            </a:pPr>
            <a:endParaRPr lang="en-US" sz="1700" dirty="0">
              <a:solidFill>
                <a:schemeClr val="dk1"/>
              </a:solidFill>
            </a:endParaRPr>
          </a:p>
          <a:p>
            <a:pPr marL="12700" lvl="0" indent="0" algn="l" rtl="0">
              <a:lnSpc>
                <a:spcPct val="115000"/>
              </a:lnSpc>
              <a:spcBef>
                <a:spcPts val="0"/>
              </a:spcBef>
              <a:spcAft>
                <a:spcPts val="0"/>
              </a:spcAft>
              <a:buNone/>
            </a:pPr>
            <a:r>
              <a:rPr lang="en-US" sz="1700" dirty="0">
                <a:solidFill>
                  <a:schemeClr val="dk1"/>
                </a:solidFill>
              </a:rPr>
              <a:t>Specifications:</a:t>
            </a:r>
          </a:p>
          <a:p>
            <a:pPr marL="12700" lvl="0" indent="0" algn="l" rtl="0">
              <a:lnSpc>
                <a:spcPct val="115000"/>
              </a:lnSpc>
              <a:spcBef>
                <a:spcPts val="0"/>
              </a:spcBef>
              <a:spcAft>
                <a:spcPts val="0"/>
              </a:spcAft>
              <a:buNone/>
            </a:pPr>
            <a:r>
              <a:rPr lang="en-US" sz="1700" dirty="0">
                <a:solidFill>
                  <a:schemeClr val="dk1"/>
                </a:solidFill>
              </a:rPr>
              <a:t>- Voltage: 5 volts</a:t>
            </a:r>
          </a:p>
          <a:p>
            <a:pPr marL="12700" lvl="0" indent="0" algn="l" rtl="0">
              <a:lnSpc>
                <a:spcPct val="115000"/>
              </a:lnSpc>
              <a:spcBef>
                <a:spcPts val="0"/>
              </a:spcBef>
              <a:spcAft>
                <a:spcPts val="0"/>
              </a:spcAft>
              <a:buNone/>
            </a:pPr>
            <a:r>
              <a:rPr lang="en-US" sz="1700" dirty="0">
                <a:solidFill>
                  <a:schemeClr val="dk1"/>
                </a:solidFill>
              </a:rPr>
              <a:t>- Flow Rate: Volume of fluid moved per unit time (e.g., liters per hour)</a:t>
            </a:r>
          </a:p>
          <a:p>
            <a:pPr marL="12700" lvl="0" indent="0" algn="l" rtl="0">
              <a:lnSpc>
                <a:spcPct val="115000"/>
              </a:lnSpc>
              <a:spcBef>
                <a:spcPts val="0"/>
              </a:spcBef>
              <a:spcAft>
                <a:spcPts val="0"/>
              </a:spcAft>
              <a:buNone/>
            </a:pPr>
            <a:r>
              <a:rPr lang="en-US" sz="1700" dirty="0">
                <a:solidFill>
                  <a:schemeClr val="dk1"/>
                </a:solidFill>
              </a:rPr>
              <a:t>- Head: Maximum vertical lift height</a:t>
            </a:r>
          </a:p>
          <a:p>
            <a:pPr marL="12700" lvl="0" indent="0" algn="l" rtl="0">
              <a:lnSpc>
                <a:spcPct val="115000"/>
              </a:lnSpc>
              <a:spcBef>
                <a:spcPts val="0"/>
              </a:spcBef>
              <a:spcAft>
                <a:spcPts val="0"/>
              </a:spcAft>
              <a:buNone/>
            </a:pPr>
            <a:r>
              <a:rPr lang="en-US" sz="1700" dirty="0">
                <a:solidFill>
                  <a:schemeClr val="dk1"/>
                </a:solidFill>
              </a:rPr>
              <a:t>- Operating Temperature Range: Suitable temperature range for operation</a:t>
            </a:r>
          </a:p>
          <a:p>
            <a:pPr marL="12700" lvl="0" indent="0" algn="l" rtl="0">
              <a:lnSpc>
                <a:spcPct val="115000"/>
              </a:lnSpc>
              <a:spcBef>
                <a:spcPts val="0"/>
              </a:spcBef>
              <a:spcAft>
                <a:spcPts val="0"/>
              </a:spcAft>
              <a:buNone/>
            </a:pPr>
            <a:r>
              <a:rPr lang="en-US" sz="1700" dirty="0">
                <a:solidFill>
                  <a:schemeClr val="dk1"/>
                </a:solidFill>
              </a:rPr>
              <a:t>- Materials: Construction materials, especially those in contact with fluid</a:t>
            </a:r>
          </a:p>
          <a:p>
            <a:pPr marL="12700" lvl="0" indent="0" algn="l" rtl="0">
              <a:lnSpc>
                <a:spcPct val="115000"/>
              </a:lnSpc>
              <a:spcBef>
                <a:spcPts val="0"/>
              </a:spcBef>
              <a:spcAft>
                <a:spcPts val="0"/>
              </a:spcAft>
              <a:buNone/>
            </a:pPr>
            <a:r>
              <a:rPr lang="en-US" sz="1700" dirty="0">
                <a:solidFill>
                  <a:schemeClr val="dk1"/>
                </a:solidFill>
              </a:rPr>
              <a:t>- Lifespan: Expected operational lifespan before maintenance or replacement.</a:t>
            </a:r>
            <a:endParaRPr sz="1700" dirty="0">
              <a:solidFill>
                <a:schemeClr val="dk1"/>
              </a:solidFill>
            </a:endParaRPr>
          </a:p>
          <a:p>
            <a:pPr marL="0" lvl="0" indent="0" algn="l" rtl="0">
              <a:spcBef>
                <a:spcPts val="0"/>
              </a:spcBef>
              <a:spcAft>
                <a:spcPts val="0"/>
              </a:spcAft>
              <a:buNone/>
            </a:pPr>
            <a:endParaRPr sz="1400" dirty="0">
              <a:solidFill>
                <a:schemeClr val="dk1"/>
              </a:solidFill>
            </a:endParaRPr>
          </a:p>
          <a:p>
            <a:pPr marL="12700" lvl="0" indent="0" algn="l" rtl="0">
              <a:lnSpc>
                <a:spcPct val="115000"/>
              </a:lnSpc>
              <a:spcBef>
                <a:spcPts val="0"/>
              </a:spcBef>
              <a:spcAft>
                <a:spcPts val="0"/>
              </a:spcAft>
              <a:buNone/>
            </a:pPr>
            <a:endParaRPr sz="1700" dirty="0">
              <a:solidFill>
                <a:schemeClr val="dk1"/>
              </a:solidFill>
            </a:endParaRPr>
          </a:p>
          <a:p>
            <a:pPr marL="12700" lvl="0" indent="0" algn="l" rtl="0">
              <a:lnSpc>
                <a:spcPct val="115000"/>
              </a:lnSpc>
              <a:spcBef>
                <a:spcPts val="0"/>
              </a:spcBef>
              <a:spcAft>
                <a:spcPts val="0"/>
              </a:spcAft>
              <a:buNone/>
            </a:pPr>
            <a:endParaRPr sz="1700" dirty="0">
              <a:solidFill>
                <a:schemeClr val="dk1"/>
              </a:solidFill>
            </a:endParaRPr>
          </a:p>
          <a:p>
            <a:pPr marL="0" lvl="0" indent="0" algn="l" rtl="0">
              <a:spcBef>
                <a:spcPts val="0"/>
              </a:spcBef>
              <a:spcAft>
                <a:spcPts val="0"/>
              </a:spcAft>
              <a:buNone/>
            </a:pPr>
            <a:endParaRPr sz="1400" dirty="0">
              <a:solidFill>
                <a:schemeClr val="dk1"/>
              </a:solidFill>
            </a:endParaRPr>
          </a:p>
        </p:txBody>
      </p:sp>
      <p:pic>
        <p:nvPicPr>
          <p:cNvPr id="184" name="Google Shape;184;p30"/>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1026" name="Picture 2">
            <a:extLst>
              <a:ext uri="{FF2B5EF4-FFF2-40B4-BE49-F238E27FC236}">
                <a16:creationId xmlns:a16="http://schemas.microsoft.com/office/drawing/2014/main" id="{99BF245A-978A-B126-1131-D032BF91CF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359" y="1893000"/>
            <a:ext cx="2095500" cy="2095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83" name="Google Shape;183;p30"/>
          <p:cNvSpPr txBox="1">
            <a:spLocks noGrp="1"/>
          </p:cNvSpPr>
          <p:nvPr>
            <p:ph type="subTitle" idx="1"/>
          </p:nvPr>
        </p:nvSpPr>
        <p:spPr>
          <a:xfrm>
            <a:off x="124691" y="1221000"/>
            <a:ext cx="6752359" cy="39225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IN" sz="1400" b="1" dirty="0">
                <a:solidFill>
                  <a:schemeClr val="dk1"/>
                </a:solidFill>
              </a:rPr>
              <a:t>ARDUINO MEGA 2560</a:t>
            </a:r>
          </a:p>
          <a:p>
            <a:pPr marL="0" lvl="0" indent="0" algn="l" rtl="0">
              <a:spcBef>
                <a:spcPts val="0"/>
              </a:spcBef>
              <a:spcAft>
                <a:spcPts val="0"/>
              </a:spcAft>
              <a:buNone/>
            </a:pPr>
            <a:endParaRPr lang="en-IN" sz="1400" b="1" dirty="0">
              <a:solidFill>
                <a:schemeClr val="dk1"/>
              </a:solidFill>
            </a:endParaRPr>
          </a:p>
          <a:p>
            <a:pPr marL="0" lvl="0" indent="0" algn="l" rtl="0">
              <a:spcBef>
                <a:spcPts val="0"/>
              </a:spcBef>
              <a:spcAft>
                <a:spcPts val="0"/>
              </a:spcAft>
              <a:buNone/>
            </a:pPr>
            <a:r>
              <a:rPr lang="en-IN" sz="1400" dirty="0">
                <a:solidFill>
                  <a:schemeClr val="dk1"/>
                </a:solidFill>
              </a:rPr>
              <a:t>1. Microcontroller: It uses the ATmega2560 microcontroller.</a:t>
            </a:r>
          </a:p>
          <a:p>
            <a:pPr marL="0" lvl="0" indent="0" algn="l" rtl="0">
              <a:spcBef>
                <a:spcPts val="0"/>
              </a:spcBef>
              <a:spcAft>
                <a:spcPts val="0"/>
              </a:spcAft>
              <a:buNone/>
            </a:pPr>
            <a:r>
              <a:rPr lang="en-IN" sz="1400" dirty="0">
                <a:solidFill>
                  <a:schemeClr val="dk1"/>
                </a:solidFill>
              </a:rPr>
              <a:t>2. Operating Voltage: 5V.</a:t>
            </a:r>
          </a:p>
          <a:p>
            <a:pPr marL="0" lvl="0" indent="0" algn="l" rtl="0">
              <a:spcBef>
                <a:spcPts val="0"/>
              </a:spcBef>
              <a:spcAft>
                <a:spcPts val="0"/>
              </a:spcAft>
              <a:buNone/>
            </a:pPr>
            <a:r>
              <a:rPr lang="en-IN" sz="1400" dirty="0">
                <a:solidFill>
                  <a:schemeClr val="dk1"/>
                </a:solidFill>
              </a:rPr>
              <a:t>3. Input Voltage (recommended): 7-12V.</a:t>
            </a:r>
          </a:p>
          <a:p>
            <a:pPr marL="0" lvl="0" indent="0" algn="l" rtl="0">
              <a:spcBef>
                <a:spcPts val="0"/>
              </a:spcBef>
              <a:spcAft>
                <a:spcPts val="0"/>
              </a:spcAft>
              <a:buNone/>
            </a:pPr>
            <a:r>
              <a:rPr lang="en-IN" sz="1400" dirty="0">
                <a:solidFill>
                  <a:schemeClr val="dk1"/>
                </a:solidFill>
              </a:rPr>
              <a:t>4. Input Voltage (limits): 6-20V.</a:t>
            </a:r>
          </a:p>
          <a:p>
            <a:pPr marL="0" lvl="0" indent="0" algn="l" rtl="0">
              <a:spcBef>
                <a:spcPts val="0"/>
              </a:spcBef>
              <a:spcAft>
                <a:spcPts val="0"/>
              </a:spcAft>
              <a:buNone/>
            </a:pPr>
            <a:r>
              <a:rPr lang="en-IN" sz="1400" dirty="0">
                <a:solidFill>
                  <a:schemeClr val="dk1"/>
                </a:solidFill>
              </a:rPr>
              <a:t>5. Digital I/O Pins: 54 (of which 15 provide PWM output).</a:t>
            </a:r>
          </a:p>
          <a:p>
            <a:pPr marL="0" lvl="0" indent="0" algn="l" rtl="0">
              <a:spcBef>
                <a:spcPts val="0"/>
              </a:spcBef>
              <a:spcAft>
                <a:spcPts val="0"/>
              </a:spcAft>
              <a:buNone/>
            </a:pPr>
            <a:r>
              <a:rPr lang="en-IN" sz="1400" dirty="0">
                <a:solidFill>
                  <a:schemeClr val="dk1"/>
                </a:solidFill>
              </a:rPr>
              <a:t>6. Analog Input Pins: 16.</a:t>
            </a:r>
          </a:p>
          <a:p>
            <a:pPr marL="0" lvl="0" indent="0" algn="l" rtl="0">
              <a:spcBef>
                <a:spcPts val="0"/>
              </a:spcBef>
              <a:spcAft>
                <a:spcPts val="0"/>
              </a:spcAft>
              <a:buNone/>
            </a:pPr>
            <a:r>
              <a:rPr lang="en-IN" sz="1400" dirty="0">
                <a:solidFill>
                  <a:schemeClr val="dk1"/>
                </a:solidFill>
              </a:rPr>
              <a:t>7. DC Current per I/O Pin: 20 mA.</a:t>
            </a:r>
          </a:p>
          <a:p>
            <a:pPr marL="0" lvl="0" indent="0" algn="l" rtl="0">
              <a:spcBef>
                <a:spcPts val="0"/>
              </a:spcBef>
              <a:spcAft>
                <a:spcPts val="0"/>
              </a:spcAft>
              <a:buNone/>
            </a:pPr>
            <a:r>
              <a:rPr lang="en-IN" sz="1400" dirty="0">
                <a:solidFill>
                  <a:schemeClr val="dk1"/>
                </a:solidFill>
              </a:rPr>
              <a:t>8. DC Current for 3.3V Pin: 50 mA.</a:t>
            </a:r>
          </a:p>
          <a:p>
            <a:pPr marL="0" lvl="0" indent="0" algn="l" rtl="0">
              <a:spcBef>
                <a:spcPts val="0"/>
              </a:spcBef>
              <a:spcAft>
                <a:spcPts val="0"/>
              </a:spcAft>
              <a:buNone/>
            </a:pPr>
            <a:r>
              <a:rPr lang="en-IN" sz="1400" dirty="0">
                <a:solidFill>
                  <a:schemeClr val="dk1"/>
                </a:solidFill>
              </a:rPr>
              <a:t>9. Flash Memory: 256 KB, of which 8 KB is used by the bootloader.</a:t>
            </a:r>
          </a:p>
          <a:p>
            <a:pPr marL="0" lvl="0" indent="0" algn="l" rtl="0">
              <a:spcBef>
                <a:spcPts val="0"/>
              </a:spcBef>
              <a:spcAft>
                <a:spcPts val="0"/>
              </a:spcAft>
              <a:buNone/>
            </a:pPr>
            <a:r>
              <a:rPr lang="en-IN" sz="1400" dirty="0">
                <a:solidFill>
                  <a:schemeClr val="dk1"/>
                </a:solidFill>
              </a:rPr>
              <a:t>10. SRAM: 8 KB.</a:t>
            </a:r>
          </a:p>
          <a:p>
            <a:pPr marL="0" lvl="0" indent="0" algn="l" rtl="0">
              <a:spcBef>
                <a:spcPts val="0"/>
              </a:spcBef>
              <a:spcAft>
                <a:spcPts val="0"/>
              </a:spcAft>
              <a:buNone/>
            </a:pPr>
            <a:r>
              <a:rPr lang="en-IN" sz="1400" dirty="0">
                <a:solidFill>
                  <a:schemeClr val="dk1"/>
                </a:solidFill>
              </a:rPr>
              <a:t>11. EEPROM: 4 KB.</a:t>
            </a:r>
          </a:p>
          <a:p>
            <a:pPr marL="0" lvl="0" indent="0" algn="l" rtl="0">
              <a:spcBef>
                <a:spcPts val="0"/>
              </a:spcBef>
              <a:spcAft>
                <a:spcPts val="0"/>
              </a:spcAft>
              <a:buNone/>
            </a:pPr>
            <a:r>
              <a:rPr lang="en-IN" sz="1400" dirty="0">
                <a:solidFill>
                  <a:schemeClr val="dk1"/>
                </a:solidFill>
              </a:rPr>
              <a:t>12. Clock Speed: 16 </a:t>
            </a:r>
            <a:r>
              <a:rPr lang="en-IN" sz="1400" dirty="0" err="1">
                <a:solidFill>
                  <a:schemeClr val="dk1"/>
                </a:solidFill>
              </a:rPr>
              <a:t>MHz.</a:t>
            </a:r>
            <a:endParaRPr lang="en-IN" sz="1400" dirty="0">
              <a:solidFill>
                <a:schemeClr val="dk1"/>
              </a:solidFill>
            </a:endParaRPr>
          </a:p>
          <a:p>
            <a:pPr marL="0" lvl="0" indent="0" algn="l" rtl="0">
              <a:spcBef>
                <a:spcPts val="0"/>
              </a:spcBef>
              <a:spcAft>
                <a:spcPts val="0"/>
              </a:spcAft>
              <a:buNone/>
            </a:pPr>
            <a:r>
              <a:rPr lang="en-IN" sz="1400" dirty="0">
                <a:solidFill>
                  <a:schemeClr val="dk1"/>
                </a:solidFill>
              </a:rPr>
              <a:t>13. Length: 101.52 mm.</a:t>
            </a:r>
          </a:p>
          <a:p>
            <a:pPr marL="0" lvl="0" indent="0" algn="l" rtl="0">
              <a:spcBef>
                <a:spcPts val="0"/>
              </a:spcBef>
              <a:spcAft>
                <a:spcPts val="0"/>
              </a:spcAft>
              <a:buNone/>
            </a:pPr>
            <a:r>
              <a:rPr lang="en-IN" sz="1400" dirty="0">
                <a:solidFill>
                  <a:schemeClr val="dk1"/>
                </a:solidFill>
              </a:rPr>
              <a:t>14. Width: 53.3 mm.</a:t>
            </a:r>
          </a:p>
          <a:p>
            <a:pPr marL="0" lvl="0" indent="0" algn="l" rtl="0">
              <a:spcBef>
                <a:spcPts val="0"/>
              </a:spcBef>
              <a:spcAft>
                <a:spcPts val="0"/>
              </a:spcAft>
              <a:buNone/>
            </a:pPr>
            <a:r>
              <a:rPr lang="en-IN" sz="1400" dirty="0">
                <a:solidFill>
                  <a:schemeClr val="dk1"/>
                </a:solidFill>
              </a:rPr>
              <a:t>15. Weight: 37 g.</a:t>
            </a:r>
          </a:p>
          <a:p>
            <a:pPr marL="0" lvl="0" indent="0" algn="l" rtl="0">
              <a:spcBef>
                <a:spcPts val="0"/>
              </a:spcBef>
              <a:spcAft>
                <a:spcPts val="0"/>
              </a:spcAft>
              <a:buNone/>
            </a:pPr>
            <a:r>
              <a:rPr lang="en-IN" sz="1400" dirty="0">
                <a:solidFill>
                  <a:schemeClr val="dk1"/>
                </a:solidFill>
              </a:rPr>
              <a:t>16. USB Interface: ATmega16U2 (on the rev3 version).</a:t>
            </a:r>
          </a:p>
          <a:p>
            <a:pPr marL="0" lvl="0" indent="0" algn="l" rtl="0">
              <a:spcBef>
                <a:spcPts val="0"/>
              </a:spcBef>
              <a:spcAft>
                <a:spcPts val="0"/>
              </a:spcAft>
              <a:buNone/>
            </a:pPr>
            <a:r>
              <a:rPr lang="en-IN" sz="1400" dirty="0">
                <a:solidFill>
                  <a:schemeClr val="dk1"/>
                </a:solidFill>
              </a:rPr>
              <a:t>17. Power Supply: Can be powered via USB connection or an external power supply.</a:t>
            </a:r>
          </a:p>
          <a:p>
            <a:pPr marL="0" lvl="0" indent="0" algn="l" rtl="0">
              <a:spcBef>
                <a:spcPts val="0"/>
              </a:spcBef>
              <a:spcAft>
                <a:spcPts val="0"/>
              </a:spcAft>
              <a:buNone/>
            </a:pPr>
            <a:r>
              <a:rPr lang="en-IN" sz="1400" dirty="0">
                <a:solidFill>
                  <a:schemeClr val="dk1"/>
                </a:solidFill>
              </a:rPr>
              <a:t>18. Reset Button Included for resetting the microcontroller.</a:t>
            </a:r>
          </a:p>
          <a:p>
            <a:pPr marL="0" lvl="0" indent="0" algn="l" rtl="0">
              <a:spcBef>
                <a:spcPts val="0"/>
              </a:spcBef>
              <a:spcAft>
                <a:spcPts val="0"/>
              </a:spcAft>
              <a:buNone/>
            </a:pPr>
            <a:r>
              <a:rPr lang="en-IN" sz="1400" dirty="0">
                <a:solidFill>
                  <a:schemeClr val="dk1"/>
                </a:solidFill>
              </a:rPr>
              <a:t>19. Operating Temperature: 0°C to 85°C.</a:t>
            </a:r>
          </a:p>
          <a:p>
            <a:pPr marL="0" lvl="0" indent="0" algn="l" rtl="0">
              <a:spcBef>
                <a:spcPts val="0"/>
              </a:spcBef>
              <a:spcAft>
                <a:spcPts val="0"/>
              </a:spcAft>
              <a:buNone/>
            </a:pPr>
            <a:r>
              <a:rPr lang="en-IN" sz="1400" dirty="0">
                <a:solidFill>
                  <a:schemeClr val="dk1"/>
                </a:solidFill>
              </a:rPr>
              <a:t>20. Development Environment: Compatible with the Arduino IDE and other development environments supporting Arduino programming.</a:t>
            </a:r>
          </a:p>
          <a:p>
            <a:pPr marL="0" lvl="0" indent="0" algn="l" rtl="0">
              <a:spcBef>
                <a:spcPts val="0"/>
              </a:spcBef>
              <a:spcAft>
                <a:spcPts val="0"/>
              </a:spcAft>
              <a:buNone/>
            </a:pPr>
            <a:endParaRPr lang="en-IN" sz="1400" dirty="0">
              <a:solidFill>
                <a:schemeClr val="dk1"/>
              </a:solidFill>
            </a:endParaRPr>
          </a:p>
        </p:txBody>
      </p:sp>
      <p:pic>
        <p:nvPicPr>
          <p:cNvPr id="184" name="Google Shape;184;p30"/>
          <p:cNvPicPr preferRelativeResize="0"/>
          <p:nvPr/>
        </p:nvPicPr>
        <p:blipFill>
          <a:blip r:embed="rId3">
            <a:alphaModFix/>
          </a:blip>
          <a:stretch>
            <a:fillRect/>
          </a:stretch>
        </p:blipFill>
        <p:spPr>
          <a:xfrm>
            <a:off x="0" y="0"/>
            <a:ext cx="1063200" cy="1063200"/>
          </a:xfrm>
          <a:prstGeom prst="rect">
            <a:avLst/>
          </a:prstGeom>
          <a:noFill/>
          <a:ln>
            <a:noFill/>
          </a:ln>
        </p:spPr>
      </p:pic>
      <p:pic>
        <p:nvPicPr>
          <p:cNvPr id="2" name="Picture 2" descr="Arduino A000067">
            <a:extLst>
              <a:ext uri="{FF2B5EF4-FFF2-40B4-BE49-F238E27FC236}">
                <a16:creationId xmlns:a16="http://schemas.microsoft.com/office/drawing/2014/main" id="{F07A5964-39A4-45C8-1581-05972DADBF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3383" y="1344324"/>
            <a:ext cx="3273136" cy="2454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9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199" name="Google Shape;199;p32"/>
          <p:cNvSpPr txBox="1">
            <a:spLocks noGrp="1"/>
          </p:cNvSpPr>
          <p:nvPr>
            <p:ph type="subTitle" idx="1"/>
          </p:nvPr>
        </p:nvSpPr>
        <p:spPr>
          <a:xfrm>
            <a:off x="0" y="1155000"/>
            <a:ext cx="9144000" cy="3922500"/>
          </a:xfrm>
          <a:prstGeom prst="rect">
            <a:avLst/>
          </a:prstGeom>
        </p:spPr>
        <p:txBody>
          <a:bodyPr spcFirstLastPara="1" wrap="square" lIns="91425" tIns="91425" rIns="91425" bIns="91425" anchor="t" anchorCtr="0">
            <a:normAutofit fontScale="85000" lnSpcReduction="10000"/>
          </a:bodyPr>
          <a:lstStyle/>
          <a:p>
            <a:pPr marL="12700" lvl="0" indent="0" algn="just" rtl="0">
              <a:lnSpc>
                <a:spcPct val="115000"/>
              </a:lnSpc>
              <a:spcBef>
                <a:spcPts val="0"/>
              </a:spcBef>
              <a:spcAft>
                <a:spcPts val="0"/>
              </a:spcAft>
              <a:buNone/>
            </a:pPr>
            <a:r>
              <a:rPr lang="en" sz="1700" dirty="0">
                <a:solidFill>
                  <a:schemeClr val="dk1"/>
                </a:solidFill>
              </a:rPr>
              <a:t>❖Results</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1. Microalgae-Based Purification System: </a:t>
            </a:r>
          </a:p>
          <a:p>
            <a:pPr marL="12700" lvl="0" indent="0" algn="just" rtl="0">
              <a:lnSpc>
                <a:spcPct val="115000"/>
              </a:lnSpc>
              <a:spcBef>
                <a:spcPts val="0"/>
              </a:spcBef>
              <a:spcAft>
                <a:spcPts val="0"/>
              </a:spcAft>
              <a:buNone/>
            </a:pPr>
            <a:r>
              <a:rPr lang="en-US" sz="1700" dirty="0">
                <a:solidFill>
                  <a:schemeClr val="dk1"/>
                </a:solidFill>
              </a:rPr>
              <a:t>	We created an air purifier that uses microalgae to clean the air.</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2. Effective Pollution Reduction:</a:t>
            </a:r>
          </a:p>
          <a:p>
            <a:pPr marL="12700" lvl="0" indent="0" algn="just" rtl="0">
              <a:lnSpc>
                <a:spcPct val="115000"/>
              </a:lnSpc>
              <a:spcBef>
                <a:spcPts val="0"/>
              </a:spcBef>
              <a:spcAft>
                <a:spcPts val="0"/>
              </a:spcAft>
              <a:buNone/>
            </a:pPr>
            <a:r>
              <a:rPr lang="en-US" sz="1700" dirty="0">
                <a:solidFill>
                  <a:schemeClr val="dk1"/>
                </a:solidFill>
              </a:rPr>
              <a:t>	Our tests showed significant improvements in air quality metrics like carbon dioxide, PM.</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3. Environmental Impact Assessment:</a:t>
            </a:r>
          </a:p>
          <a:p>
            <a:pPr marL="12700" lvl="0" indent="0" algn="just" rtl="0">
              <a:lnSpc>
                <a:spcPct val="115000"/>
              </a:lnSpc>
              <a:spcBef>
                <a:spcPts val="0"/>
              </a:spcBef>
              <a:spcAft>
                <a:spcPts val="0"/>
              </a:spcAft>
              <a:buNone/>
            </a:pPr>
            <a:r>
              <a:rPr lang="en-US" sz="1700" dirty="0">
                <a:solidFill>
                  <a:schemeClr val="dk1"/>
                </a:solidFill>
              </a:rPr>
              <a:t>	We found that our system can improve environmental sustainability and public health.</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4. Scalability:</a:t>
            </a:r>
          </a:p>
          <a:p>
            <a:pPr marL="12700" lvl="0" indent="0" algn="just" rtl="0">
              <a:lnSpc>
                <a:spcPct val="115000"/>
              </a:lnSpc>
              <a:spcBef>
                <a:spcPts val="0"/>
              </a:spcBef>
              <a:spcAft>
                <a:spcPts val="0"/>
              </a:spcAft>
              <a:buNone/>
            </a:pPr>
            <a:r>
              <a:rPr lang="en-US" sz="1700" dirty="0">
                <a:solidFill>
                  <a:schemeClr val="dk1"/>
                </a:solidFill>
              </a:rPr>
              <a:t>	Our research shows that our solution can be implemented in different residential areas.</a:t>
            </a: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5. Contribution to Knowledge:</a:t>
            </a:r>
          </a:p>
          <a:p>
            <a:pPr marL="469900" lvl="1" indent="0" algn="just">
              <a:lnSpc>
                <a:spcPct val="115000"/>
              </a:lnSpc>
            </a:pPr>
            <a:r>
              <a:rPr lang="en-US" sz="1700" dirty="0">
                <a:solidFill>
                  <a:schemeClr val="dk1"/>
                </a:solidFill>
              </a:rPr>
              <a:t>We've added valuable insights to the field of sustainable air purification solutions for residential areas.</a:t>
            </a:r>
            <a:endParaRPr sz="1700" dirty="0">
              <a:solidFill>
                <a:schemeClr val="dk1"/>
              </a:solidFill>
            </a:endParaRPr>
          </a:p>
          <a:p>
            <a:pPr marL="12700" lvl="0" indent="0" algn="just" rtl="0">
              <a:lnSpc>
                <a:spcPct val="115000"/>
              </a:lnSpc>
              <a:spcBef>
                <a:spcPts val="0"/>
              </a:spcBef>
              <a:spcAft>
                <a:spcPts val="0"/>
              </a:spcAft>
              <a:buNone/>
            </a:pPr>
            <a:endParaRPr sz="1700" dirty="0">
              <a:solidFill>
                <a:schemeClr val="dk1"/>
              </a:solidFill>
            </a:endParaRPr>
          </a:p>
          <a:p>
            <a:pPr marL="0" lvl="0" indent="0" algn="just" rtl="0">
              <a:spcBef>
                <a:spcPts val="0"/>
              </a:spcBef>
              <a:spcAft>
                <a:spcPts val="0"/>
              </a:spcAft>
              <a:buNone/>
            </a:pPr>
            <a:endParaRPr sz="1400" dirty="0">
              <a:solidFill>
                <a:schemeClr val="dk1"/>
              </a:solidFill>
            </a:endParaRPr>
          </a:p>
        </p:txBody>
      </p:sp>
      <p:pic>
        <p:nvPicPr>
          <p:cNvPr id="200" name="Google Shape;200;p32"/>
          <p:cNvPicPr preferRelativeResize="0"/>
          <p:nvPr/>
        </p:nvPicPr>
        <p:blipFill>
          <a:blip r:embed="rId3">
            <a:alphaModFix/>
          </a:blip>
          <a:stretch>
            <a:fillRect/>
          </a:stretch>
        </p:blipFill>
        <p:spPr>
          <a:xfrm>
            <a:off x="0" y="0"/>
            <a:ext cx="1063200" cy="106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206" name="Google Shape;206;p33"/>
          <p:cNvSpPr txBox="1">
            <a:spLocks noGrp="1"/>
          </p:cNvSpPr>
          <p:nvPr>
            <p:ph type="subTitle" idx="1"/>
          </p:nvPr>
        </p:nvSpPr>
        <p:spPr>
          <a:xfrm>
            <a:off x="-1" y="1155000"/>
            <a:ext cx="8929255" cy="3922500"/>
          </a:xfrm>
          <a:prstGeom prst="rect">
            <a:avLst/>
          </a:prstGeom>
        </p:spPr>
        <p:txBody>
          <a:bodyPr spcFirstLastPara="1" wrap="square" lIns="91425" tIns="91425" rIns="91425" bIns="91425" anchor="t" anchorCtr="0">
            <a:normAutofit/>
          </a:bodyPr>
          <a:lstStyle/>
          <a:p>
            <a:pPr marL="12700" lvl="0" indent="0" algn="just" rtl="0">
              <a:lnSpc>
                <a:spcPct val="115000"/>
              </a:lnSpc>
              <a:spcBef>
                <a:spcPts val="0"/>
              </a:spcBef>
              <a:spcAft>
                <a:spcPts val="0"/>
              </a:spcAft>
              <a:buNone/>
            </a:pPr>
            <a:r>
              <a:rPr lang="en" sz="1700" dirty="0">
                <a:solidFill>
                  <a:schemeClr val="dk1"/>
                </a:solidFill>
              </a:rPr>
              <a:t>❖Conclusion:</a:t>
            </a:r>
            <a:endParaRPr lang="en-US" sz="1700" dirty="0">
              <a:solidFill>
                <a:schemeClr val="dk1"/>
              </a:solidFill>
            </a:endParaRP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endParaRPr lang="en-US" sz="1700" dirty="0">
              <a:solidFill>
                <a:schemeClr val="dk1"/>
              </a:solidFill>
            </a:endParaRPr>
          </a:p>
          <a:p>
            <a:pPr marL="12700" lvl="0" indent="0" algn="just" rtl="0">
              <a:lnSpc>
                <a:spcPct val="115000"/>
              </a:lnSpc>
              <a:spcBef>
                <a:spcPts val="0"/>
              </a:spcBef>
              <a:spcAft>
                <a:spcPts val="0"/>
              </a:spcAft>
              <a:buNone/>
            </a:pPr>
            <a:r>
              <a:rPr lang="en-US" sz="1700" dirty="0">
                <a:solidFill>
                  <a:schemeClr val="dk1"/>
                </a:solidFill>
              </a:rPr>
              <a:t>Our project offers a promising solution to world’s air pollution problem by harnessing the natural purifying abilities of microalgae. We've developed a microalgae-based air purifier that effectively cleans the air while minimizing energy use and maintenance. This innovation has the potential to create cleaner and healthier residential environments while reducing the carbon footprint of traditional purification methods.</a:t>
            </a:r>
            <a:endParaRPr sz="1700" dirty="0">
              <a:solidFill>
                <a:schemeClr val="dk1"/>
              </a:solidFill>
            </a:endParaRPr>
          </a:p>
          <a:p>
            <a:pPr marL="0" lvl="0" indent="0" algn="just" rtl="0">
              <a:spcBef>
                <a:spcPts val="0"/>
              </a:spcBef>
              <a:spcAft>
                <a:spcPts val="0"/>
              </a:spcAft>
              <a:buNone/>
            </a:pPr>
            <a:endParaRPr sz="1400" dirty="0">
              <a:solidFill>
                <a:schemeClr val="dk1"/>
              </a:solidFill>
            </a:endParaRPr>
          </a:p>
        </p:txBody>
      </p:sp>
      <p:pic>
        <p:nvPicPr>
          <p:cNvPr id="207" name="Google Shape;207;p33"/>
          <p:cNvPicPr preferRelativeResize="0"/>
          <p:nvPr/>
        </p:nvPicPr>
        <p:blipFill>
          <a:blip r:embed="rId3">
            <a:alphaModFix/>
          </a:blip>
          <a:stretch>
            <a:fillRect/>
          </a:stretch>
        </p:blipFill>
        <p:spPr>
          <a:xfrm>
            <a:off x="0" y="0"/>
            <a:ext cx="1063200" cy="106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ctrTitle"/>
          </p:nvPr>
        </p:nvSpPr>
        <p:spPr>
          <a:xfrm>
            <a:off x="0" y="0"/>
            <a:ext cx="9144000" cy="1155000"/>
          </a:xfrm>
          <a:prstGeom prst="rect">
            <a:avLst/>
          </a:prstGeom>
          <a:solidFill>
            <a:srgbClr val="FF9900"/>
          </a:solidFill>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a:latin typeface="Cambria"/>
                <a:ea typeface="Cambria"/>
                <a:cs typeface="Cambria"/>
                <a:sym typeface="Cambria"/>
              </a:rPr>
              <a:t>MAEER’s MIT Art, Design and Technology University, Pune</a:t>
            </a:r>
            <a:endParaRPr sz="16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MIT School of Computing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Department of Computer Science and Engineering</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Computer Engineering Workshop 23CSE1107</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F.Y B.Tech [ASH] A.Y 2023-24 Sem-II</a:t>
            </a:r>
            <a:endParaRPr sz="1100" b="1">
              <a:latin typeface="Cambria"/>
              <a:ea typeface="Cambria"/>
              <a:cs typeface="Cambria"/>
              <a:sym typeface="Cambria"/>
            </a:endParaRPr>
          </a:p>
          <a:p>
            <a:pPr marL="0" lvl="0" indent="0" algn="ctr" rtl="0">
              <a:spcBef>
                <a:spcPts val="0"/>
              </a:spcBef>
              <a:spcAft>
                <a:spcPts val="0"/>
              </a:spcAft>
              <a:buNone/>
            </a:pPr>
            <a:r>
              <a:rPr lang="en" sz="1100" b="1">
                <a:latin typeface="Cambria"/>
                <a:ea typeface="Cambria"/>
                <a:cs typeface="Cambria"/>
                <a:sym typeface="Cambria"/>
              </a:rPr>
              <a:t>CEW Project Presentation</a:t>
            </a:r>
            <a:endParaRPr sz="1100" b="1">
              <a:latin typeface="Cambria"/>
              <a:ea typeface="Cambria"/>
              <a:cs typeface="Cambria"/>
              <a:sym typeface="Cambria"/>
            </a:endParaRPr>
          </a:p>
        </p:txBody>
      </p:sp>
      <p:sp>
        <p:nvSpPr>
          <p:cNvPr id="213" name="Google Shape;213;p34"/>
          <p:cNvSpPr txBox="1">
            <a:spLocks noGrp="1"/>
          </p:cNvSpPr>
          <p:nvPr>
            <p:ph type="subTitle" idx="1"/>
          </p:nvPr>
        </p:nvSpPr>
        <p:spPr>
          <a:xfrm>
            <a:off x="0" y="1155000"/>
            <a:ext cx="9144000" cy="3922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2400">
                <a:solidFill>
                  <a:schemeClr val="dk1"/>
                </a:solidFill>
                <a:latin typeface="Comic Sans MS"/>
                <a:ea typeface="Comic Sans MS"/>
                <a:cs typeface="Comic Sans MS"/>
                <a:sym typeface="Comic Sans MS"/>
              </a:rPr>
              <a:t>Thank You</a:t>
            </a:r>
            <a:endParaRPr sz="2400">
              <a:solidFill>
                <a:schemeClr val="dk1"/>
              </a:solidFill>
              <a:latin typeface="Comic Sans MS"/>
              <a:ea typeface="Comic Sans MS"/>
              <a:cs typeface="Comic Sans MS"/>
              <a:sym typeface="Comic Sans MS"/>
            </a:endParaRPr>
          </a:p>
          <a:p>
            <a:pPr marL="0" lvl="0" indent="0" algn="ctr" rtl="0">
              <a:spcBef>
                <a:spcPts val="0"/>
              </a:spcBef>
              <a:spcAft>
                <a:spcPts val="0"/>
              </a:spcAft>
              <a:buNone/>
            </a:pPr>
            <a:r>
              <a:rPr lang="en" sz="2400">
                <a:solidFill>
                  <a:schemeClr val="dk1"/>
                </a:solidFill>
                <a:latin typeface="Comic Sans MS"/>
                <a:ea typeface="Comic Sans MS"/>
                <a:cs typeface="Comic Sans MS"/>
                <a:sym typeface="Comic Sans MS"/>
              </a:rPr>
              <a:t>Any Questions ?!!!</a:t>
            </a:r>
            <a:endParaRPr sz="2400">
              <a:solidFill>
                <a:schemeClr val="dk1"/>
              </a:solidFill>
              <a:latin typeface="Comic Sans MS"/>
              <a:ea typeface="Comic Sans MS"/>
              <a:cs typeface="Comic Sans MS"/>
              <a:sym typeface="Comic Sans MS"/>
            </a:endParaRPr>
          </a:p>
        </p:txBody>
      </p:sp>
      <p:pic>
        <p:nvPicPr>
          <p:cNvPr id="214" name="Google Shape;214;p34"/>
          <p:cNvPicPr preferRelativeResize="0"/>
          <p:nvPr/>
        </p:nvPicPr>
        <p:blipFill>
          <a:blip r:embed="rId3">
            <a:alphaModFix/>
          </a:blip>
          <a:stretch>
            <a:fillRect/>
          </a:stretch>
        </p:blipFill>
        <p:spPr>
          <a:xfrm>
            <a:off x="0" y="0"/>
            <a:ext cx="1063200" cy="10632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749</TotalTime>
  <Words>3147</Words>
  <Application>Microsoft Office PowerPoint</Application>
  <PresentationFormat>On-screen Show (16:9)</PresentationFormat>
  <Paragraphs>372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Cambria</vt:lpstr>
      <vt:lpstr>Comic Sans MS</vt:lpstr>
      <vt:lpstr>Simple Light</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lpstr>MAEER’s MIT Art, Design and Technology University, Pune MIT School of Computing Department of Computer Science and Engineering Computer Engineering Workshop 23CSE1107 F.Y B.Tech [ASH] A.Y 2023-24 Sem-II CEW Project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MAEER’s MIT Art, Design and Technology University, Pune MIT School of Computing Department of Computer Science and Engineering Computer Engineering Workshop 23CSE1107 F.Y B.Tech [ASH] A.Y 2023-24 Sem-II CEW Project Presentation</dc:title>
  <dc:creator>VedantBarhate</dc:creator>
  <cp:lastModifiedBy>Vedant Barhate</cp:lastModifiedBy>
  <cp:revision>55</cp:revision>
  <dcterms:modified xsi:type="dcterms:W3CDTF">2024-05-14T05:54:57Z</dcterms:modified>
</cp:coreProperties>
</file>